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image" Target="../media/image-3-17.png"/><Relationship Id="rId18" Type="http://schemas.openxmlformats.org/officeDocument/2006/relationships/image" Target="../media/image-3-18.svg"/><Relationship Id="rId19" Type="http://schemas.openxmlformats.org/officeDocument/2006/relationships/image" Target="../media/image-3-19.png"/><Relationship Id="rId20" Type="http://schemas.openxmlformats.org/officeDocument/2006/relationships/image" Target="../media/image-3-20.svg"/><Relationship Id="rId21" Type="http://schemas.openxmlformats.org/officeDocument/2006/relationships/image" Target="../media/image-3-21.png"/><Relationship Id="rId22" Type="http://schemas.openxmlformats.org/officeDocument/2006/relationships/image" Target="../media/image-3-22.svg"/><Relationship Id="rId23" Type="http://schemas.openxmlformats.org/officeDocument/2006/relationships/image" Target="../media/image-3-23.png"/><Relationship Id="rId24" Type="http://schemas.openxmlformats.org/officeDocument/2006/relationships/image" Target="../media/image-3-24.svg"/><Relationship Id="rId25" Type="http://schemas.openxmlformats.org/officeDocument/2006/relationships/image" Target="../media/image-3-25.png"/><Relationship Id="rId26" Type="http://schemas.openxmlformats.org/officeDocument/2006/relationships/image" Target="../media/image-3-26.svg"/><Relationship Id="rId27" Type="http://schemas.openxmlformats.org/officeDocument/2006/relationships/image" Target="../media/image-3-27.png"/><Relationship Id="rId28" Type="http://schemas.openxmlformats.org/officeDocument/2006/relationships/image" Target="../media/image-3-28.svg"/><Relationship Id="rId29" Type="http://schemas.openxmlformats.org/officeDocument/2006/relationships/image" Target="../media/image-3-29.png"/><Relationship Id="rId30" Type="http://schemas.openxmlformats.org/officeDocument/2006/relationships/image" Target="../media/image-3-30.svg"/><Relationship Id="rId31" Type="http://schemas.openxmlformats.org/officeDocument/2006/relationships/image" Target="../media/image-3-31.png"/><Relationship Id="rId32" Type="http://schemas.openxmlformats.org/officeDocument/2006/relationships/image" Target="../media/image-3-32.svg"/><Relationship Id="rId33" Type="http://schemas.openxmlformats.org/officeDocument/2006/relationships/image" Target="../media/image-3-33.png"/><Relationship Id="rId34" Type="http://schemas.openxmlformats.org/officeDocument/2006/relationships/image" Target="../media/image-3-34.svg"/><Relationship Id="rId35" Type="http://schemas.openxmlformats.org/officeDocument/2006/relationships/image" Target="../media/image-3-35.png"/><Relationship Id="rId36" Type="http://schemas.openxmlformats.org/officeDocument/2006/relationships/image" Target="../media/image-3-36.svg"/><Relationship Id="rId37" Type="http://schemas.openxmlformats.org/officeDocument/2006/relationships/image" Target="../media/image-3-37.png"/><Relationship Id="rId38" Type="http://schemas.openxmlformats.org/officeDocument/2006/relationships/image" Target="../media/image-3-38.svg"/><Relationship Id="rId39" Type="http://schemas.openxmlformats.org/officeDocument/2006/relationships/image" Target="../media/image-3-39.png"/><Relationship Id="rId40" Type="http://schemas.openxmlformats.org/officeDocument/2006/relationships/image" Target="../media/image-3-40.svg"/><Relationship Id="rId41" Type="http://schemas.openxmlformats.org/officeDocument/2006/relationships/image" Target="../media/image-3-41.png"/><Relationship Id="rId42" Type="http://schemas.openxmlformats.org/officeDocument/2006/relationships/image" Target="../media/image-3-42.svg"/><Relationship Id="rId43" Type="http://schemas.openxmlformats.org/officeDocument/2006/relationships/image" Target="../media/image-3-43.png"/><Relationship Id="rId44" Type="http://schemas.openxmlformats.org/officeDocument/2006/relationships/image" Target="../media/image-3-44.svg"/><Relationship Id="rId45" Type="http://schemas.openxmlformats.org/officeDocument/2006/relationships/image" Target="../media/image-3-45.png"/><Relationship Id="rId46" Type="http://schemas.openxmlformats.org/officeDocument/2006/relationships/image" Target="../media/image-3-46.svg"/><Relationship Id="rId47" Type="http://schemas.openxmlformats.org/officeDocument/2006/relationships/image" Target="../media/image-3-47.png"/><Relationship Id="rId48" Type="http://schemas.openxmlformats.org/officeDocument/2006/relationships/image" Target="../media/image-3-48.svg"/><Relationship Id="rId49" Type="http://schemas.openxmlformats.org/officeDocument/2006/relationships/image" Target="../media/image-3-49.png"/><Relationship Id="rId50" Type="http://schemas.openxmlformats.org/officeDocument/2006/relationships/image" Target="../media/image-3-50.svg"/><Relationship Id="rId51" Type="http://schemas.openxmlformats.org/officeDocument/2006/relationships/slideLayout" Target="../slideLayouts/slideLayout1.xml"/><Relationship Id="rId5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0805"/>
            <a:ext cx="12161520" cy="3116390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2163759"/>
            <a:ext cx="11350752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进度汇报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05384" y="2309443"/>
            <a:ext cx="11350752" cy="25336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辅助自动化测试平台 · 进度汇报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05384" y="2611898"/>
            <a:ext cx="11350752" cy="14568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1122"/>
              </a:lnSpc>
              <a:buNone/>
            </a:pPr>
            <a:r>
              <a:rPr lang="en-US" sz="7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</a:t>
            </a:r>
            <a:pPr algn="l" indent="0" marL="0">
              <a:lnSpc>
                <a:spcPts val="1122"/>
              </a:lnSpc>
              <a:spcBef>
                <a:spcPts val="399"/>
              </a:spcBef>
              <a:buNone/>
            </a:pPr>
            <a:r>
              <a:rPr lang="en-US" sz="7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 T-Agent 研发进度，并回答「为什么自研、与 openclaw 跑自动化的本质区别」。　</a:t>
            </a:r>
            <a:pPr algn="l" indent="0" marL="0">
              <a:lnSpc>
                <a:spcPts val="1122"/>
              </a:lnSpc>
              <a:buNone/>
            </a:pPr>
            <a:r>
              <a:rPr lang="en-US" sz="7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</a:t>
            </a:r>
            <a:pPr algn="l" indent="0" marL="0">
              <a:lnSpc>
                <a:spcPts val="1122"/>
              </a:lnSpc>
              <a:spcBef>
                <a:spcPts val="399"/>
              </a:spcBef>
              <a:buNone/>
            </a:pPr>
            <a:r>
              <a:rPr lang="en-US" sz="7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 Web 业务回归长期依赖人工，自动化脚本编写门槛高、随页面改版频繁失效，维护成本压垮收益。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05384" y="2832009"/>
            <a:ext cx="380048" cy="25337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7" name="Text 5"/>
          <p:cNvSpPr/>
          <p:nvPr/>
        </p:nvSpPr>
        <p:spPr>
          <a:xfrm>
            <a:off x="1192053" y="2946023"/>
            <a:ext cx="2039588" cy="316706"/>
          </a:xfrm>
          <a:prstGeom prst="roundRect">
            <a:avLst>
              <a:gd name="adj" fmla="val 18000"/>
            </a:avLst>
          </a:prstGeom>
          <a:solidFill>
            <a:srgbClr val="6AA676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</a:t>
            </a:r>
            <a:pPr algn="ctr" indent="0" marL="0">
              <a:spcBef>
                <a:spcPts val="100"/>
              </a:spcBef>
              <a:buNone/>
            </a:pPr>
            <a:r>
              <a:rPr lang="en-US" sz="47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REQUIREMENTS</a:t>
            </a:r>
            <a:endParaRPr lang="en-US" sz="670" dirty="0"/>
          </a:p>
        </p:txBody>
      </p:sp>
      <p:sp>
        <p:nvSpPr>
          <p:cNvPr id="8" name="Text 6"/>
          <p:cNvSpPr/>
          <p:nvPr/>
        </p:nvSpPr>
        <p:spPr>
          <a:xfrm>
            <a:off x="3322842" y="2946023"/>
            <a:ext cx="2039588" cy="316706"/>
          </a:xfrm>
          <a:prstGeom prst="roundRect">
            <a:avLst>
              <a:gd name="adj" fmla="val 18000"/>
            </a:avLst>
          </a:prstGeom>
          <a:solidFill>
            <a:srgbClr val="589162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测试设计</a:t>
            </a:r>
            <a:pPr algn="ctr" indent="0" marL="0">
              <a:spcBef>
                <a:spcPts val="100"/>
              </a:spcBef>
              <a:buNone/>
            </a:pPr>
            <a:r>
              <a:rPr lang="en-US" sz="47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测试点 / 用例设计</a:t>
            </a:r>
            <a:endParaRPr lang="en-US" sz="670" dirty="0"/>
          </a:p>
        </p:txBody>
      </p:sp>
      <p:sp>
        <p:nvSpPr>
          <p:cNvPr id="9" name="Text 7"/>
          <p:cNvSpPr/>
          <p:nvPr/>
        </p:nvSpPr>
        <p:spPr>
          <a:xfrm>
            <a:off x="5453632" y="2946023"/>
            <a:ext cx="2039588" cy="316706"/>
          </a:xfrm>
          <a:prstGeom prst="roundRect">
            <a:avLst>
              <a:gd name="adj" fmla="val 18000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测试执行</a:t>
            </a:r>
            <a:pPr algn="ctr" indent="0" marL="0">
              <a:spcBef>
                <a:spcPts val="100"/>
              </a:spcBef>
              <a:buNone/>
            </a:pPr>
            <a:r>
              <a:rPr lang="en-US" sz="47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EXECUTION</a:t>
            </a:r>
            <a:endParaRPr lang="en-US" sz="670" dirty="0"/>
          </a:p>
        </p:txBody>
      </p:sp>
      <p:sp>
        <p:nvSpPr>
          <p:cNvPr id="10" name="Text 8"/>
          <p:cNvSpPr/>
          <p:nvPr/>
        </p:nvSpPr>
        <p:spPr>
          <a:xfrm>
            <a:off x="7584422" y="2946023"/>
            <a:ext cx="2039588" cy="316706"/>
          </a:xfrm>
          <a:prstGeom prst="roundRect">
            <a:avLst>
              <a:gd name="adj" fmla="val 18000"/>
            </a:avLst>
          </a:prstGeom>
          <a:solidFill>
            <a:srgbClr val="3C7848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测试评估</a:t>
            </a:r>
            <a:pPr algn="ctr" indent="0" marL="0">
              <a:spcBef>
                <a:spcPts val="100"/>
              </a:spcBef>
              <a:buNone/>
            </a:pPr>
            <a:r>
              <a:rPr lang="en-US" sz="47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 / 报表</a:t>
            </a:r>
            <a:endParaRPr lang="en-US" sz="670" dirty="0"/>
          </a:p>
        </p:txBody>
      </p:sp>
      <p:sp>
        <p:nvSpPr>
          <p:cNvPr id="11" name="Text 9"/>
          <p:cNvSpPr/>
          <p:nvPr/>
        </p:nvSpPr>
        <p:spPr>
          <a:xfrm>
            <a:off x="9715212" y="2946023"/>
            <a:ext cx="2039588" cy="316706"/>
          </a:xfrm>
          <a:prstGeom prst="roundRect">
            <a:avLst>
              <a:gd name="adj" fmla="val 18000"/>
            </a:avLst>
          </a:prstGeom>
          <a:solidFill>
            <a:srgbClr val="2F5F39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测试资产</a:t>
            </a:r>
            <a:pPr algn="ctr" indent="0" marL="0">
              <a:spcBef>
                <a:spcPts val="100"/>
              </a:spcBef>
              <a:buNone/>
            </a:pPr>
            <a:r>
              <a:rPr lang="en-US" sz="47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ASSETS</a:t>
            </a:r>
            <a:endParaRPr lang="en-US" sz="670" dirty="0"/>
          </a:p>
        </p:txBody>
      </p:sp>
      <p:sp>
        <p:nvSpPr>
          <p:cNvPr id="12" name="Text 10"/>
          <p:cNvSpPr/>
          <p:nvPr/>
        </p:nvSpPr>
        <p:spPr>
          <a:xfrm>
            <a:off x="405384" y="3620607"/>
            <a:ext cx="291370" cy="538401"/>
          </a:xfrm>
          <a:prstGeom prst="roundRect">
            <a:avLst>
              <a:gd name="adj" fmla="val 21739"/>
            </a:avLst>
          </a:prstGeom>
          <a:solidFill>
            <a:srgbClr val="1F2A24"/>
          </a:solidFill>
          <a:ln/>
        </p:spPr>
        <p:txBody>
          <a:bodyPr wrap="square" lIns="0" tIns="0" rIns="0" bIns="0" rtlCol="0" anchor="ctr" vert="wordArtVertRtl">
            <a:spAutoFit/>
          </a:bodyPr>
          <a:lstStyle/>
          <a:p>
            <a:pPr algn="l" indent="0" marL="0">
              <a:buNone/>
            </a:pPr>
            <a:r>
              <a:rPr lang="en-US" sz="620" b="1" spc="15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测试需求</a:t>
            </a:r>
            <a:endParaRPr lang="en-US" sz="62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384" y="3351407"/>
            <a:ext cx="696754" cy="107680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91013" y="3378030"/>
            <a:ext cx="817102" cy="120348"/>
          </a:xfrm>
          <a:prstGeom prst="roundRect">
            <a:avLst>
              <a:gd name="adj" fmla="val 50000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期计划（当前项目）</a:t>
            </a:r>
            <a:endParaRPr lang="en-US" sz="550" dirty="0"/>
          </a:p>
        </p:txBody>
      </p:sp>
      <p:sp>
        <p:nvSpPr>
          <p:cNvPr id="15" name="Text 12"/>
          <p:cNvSpPr/>
          <p:nvPr/>
        </p:nvSpPr>
        <p:spPr>
          <a:xfrm>
            <a:off x="1190172" y="3535097"/>
            <a:ext cx="4174188" cy="272367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完整用例导入 → 用例预解析</a:t>
            </a:r>
            <a:pPr algn="ctr" indent="0" marL="0">
              <a:buNone/>
            </a:pPr>
            <a:endParaRPr lang="en-US" sz="550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替代「需求文档 + 测试设计」的方案</a:t>
            </a:r>
            <a:endParaRPr lang="en-US" sz="550" dirty="0"/>
          </a:p>
        </p:txBody>
      </p:sp>
      <p:sp>
        <p:nvSpPr>
          <p:cNvPr id="16" name="Text 13"/>
          <p:cNvSpPr/>
          <p:nvPr/>
        </p:nvSpPr>
        <p:spPr>
          <a:xfrm>
            <a:off x="5453632" y="3455920"/>
            <a:ext cx="2039588" cy="272367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playwright-mcp 自动化执行</a:t>
            </a:r>
            <a:pPr algn="ctr" indent="0" marL="0">
              <a:buNone/>
            </a:pPr>
            <a:endParaRPr lang="en-US" sz="550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ReAct·护栏·AI自愈 + 确定性断言判定（规则引擎·非眼判）</a:t>
            </a:r>
            <a:endParaRPr lang="en-US" sz="550" dirty="0"/>
          </a:p>
        </p:txBody>
      </p:sp>
      <p:sp>
        <p:nvSpPr>
          <p:cNvPr id="17" name="Text 14"/>
          <p:cNvSpPr/>
          <p:nvPr/>
        </p:nvSpPr>
        <p:spPr>
          <a:xfrm>
            <a:off x="7584422" y="3455920"/>
            <a:ext cx="2039588" cy="272367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测试报告 / 报表</a:t>
            </a:r>
            <a:pPr algn="ctr" indent="0" marL="0">
              <a:buNone/>
            </a:pPr>
            <a:endParaRPr lang="en-US" sz="550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通过率·断言详情·截图</a:t>
            </a:r>
            <a:endParaRPr lang="en-US" sz="550" dirty="0"/>
          </a:p>
        </p:txBody>
      </p:sp>
      <p:sp>
        <p:nvSpPr>
          <p:cNvPr id="18" name="Text 15"/>
          <p:cNvSpPr/>
          <p:nvPr/>
        </p:nvSpPr>
        <p:spPr>
          <a:xfrm>
            <a:off x="9715212" y="3455920"/>
            <a:ext cx="2039588" cy="272367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转译代码（可回放）</a:t>
            </a:r>
            <a:pPr algn="ctr" indent="0" marL="0">
              <a:buNone/>
            </a:pPr>
            <a:endParaRPr lang="en-US" sz="550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pytest-bdd + 词汇表沉淀</a:t>
            </a:r>
            <a:endParaRPr lang="en-US" sz="550" dirty="0"/>
          </a:p>
        </p:txBody>
      </p:sp>
      <p:sp>
        <p:nvSpPr>
          <p:cNvPr id="19" name="Text 16"/>
          <p:cNvSpPr/>
          <p:nvPr/>
        </p:nvSpPr>
        <p:spPr>
          <a:xfrm>
            <a:off x="1190816" y="3973438"/>
            <a:ext cx="475059" cy="120348"/>
          </a:xfrm>
          <a:prstGeom prst="roundRect">
            <a:avLst>
              <a:gd name="adj" fmla="val 50000"/>
            </a:avLst>
          </a:prstGeom>
          <a:solidFill>
            <a:srgbClr val="E3E8E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828D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目标工作流</a:t>
            </a:r>
            <a:endParaRPr lang="en-US" sz="550" dirty="0"/>
          </a:p>
        </p:txBody>
      </p:sp>
      <p:sp>
        <p:nvSpPr>
          <p:cNvPr id="20" name="Text 17"/>
          <p:cNvSpPr/>
          <p:nvPr/>
        </p:nvSpPr>
        <p:spPr>
          <a:xfrm>
            <a:off x="1192053" y="4130504"/>
            <a:ext cx="2039588" cy="272367"/>
          </a:xfrm>
          <a:prstGeom prst="roundRect">
            <a:avLst>
              <a:gd name="adj" fmla="val 18605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 / PRD</a:t>
            </a:r>
            <a:pPr algn="ctr" indent="0" marL="0">
              <a:buNone/>
            </a:pPr>
            <a:endParaRPr lang="en-US" sz="550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baseUrl · 登录aw · api docs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3322842" y="3946815"/>
            <a:ext cx="2039588" cy="481394"/>
          </a:xfrm>
          <a:prstGeom prst="roundRect">
            <a:avLst>
              <a:gd name="adj" fmla="val 10526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3373515" y="3991154"/>
            <a:ext cx="1938242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测试点 / 用例设计</a:t>
            </a:r>
            <a:endParaRPr lang="en-US" sz="500" dirty="0"/>
          </a:p>
        </p:txBody>
      </p:sp>
      <p:sp>
        <p:nvSpPr>
          <p:cNvPr id="23" name="Text 20"/>
          <p:cNvSpPr/>
          <p:nvPr/>
        </p:nvSpPr>
        <p:spPr>
          <a:xfrm>
            <a:off x="3373515" y="4105168"/>
            <a:ext cx="1938242" cy="12668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34">
            <a:solidFill>
              <a:srgbClr val="E2E7E3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6C7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xmind 测试点设计</a:t>
            </a:r>
            <a:endParaRPr lang="en-US" sz="500" dirty="0"/>
          </a:p>
        </p:txBody>
      </p:sp>
      <p:sp>
        <p:nvSpPr>
          <p:cNvPr id="24" name="Text 21"/>
          <p:cNvSpPr/>
          <p:nvPr/>
        </p:nvSpPr>
        <p:spPr>
          <a:xfrm>
            <a:off x="3373515" y="4257187"/>
            <a:ext cx="1938242" cy="12668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34">
            <a:solidFill>
              <a:srgbClr val="E2E7E3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6C7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测试用例设计 + 审核</a:t>
            </a:r>
            <a:endParaRPr lang="en-US" sz="500" dirty="0"/>
          </a:p>
        </p:txBody>
      </p:sp>
      <p:sp>
        <p:nvSpPr>
          <p:cNvPr id="25" name="Text 22"/>
          <p:cNvSpPr/>
          <p:nvPr/>
        </p:nvSpPr>
        <p:spPr>
          <a:xfrm>
            <a:off x="5453632" y="4051328"/>
            <a:ext cx="2039588" cy="272367"/>
          </a:xfrm>
          <a:prstGeom prst="roundRect">
            <a:avLst>
              <a:gd name="adj" fmla="val 18605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接口自动化</a:t>
            </a:r>
            <a:pPr algn="ctr" indent="0" marL="0">
              <a:buNone/>
            </a:pPr>
            <a:endParaRPr lang="en-US" sz="550" dirty="0"/>
          </a:p>
          <a:p>
            <a:pPr algn="ctr" indent="0" marL="0">
              <a:lnSpc>
                <a:spcPts val="713"/>
              </a:lnSpc>
              <a:buNone/>
            </a:pPr>
            <a:r>
              <a:rPr lang="en-US" sz="550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代码生成 → 下发执行机</a:t>
            </a:r>
            <a:endParaRPr lang="en-US" sz="550" dirty="0"/>
          </a:p>
        </p:txBody>
      </p:sp>
      <p:sp>
        <p:nvSpPr>
          <p:cNvPr id="26" name="Text 23"/>
          <p:cNvSpPr/>
          <p:nvPr/>
        </p:nvSpPr>
        <p:spPr>
          <a:xfrm>
            <a:off x="7584422" y="4098784"/>
            <a:ext cx="2039588" cy="177355"/>
          </a:xfrm>
          <a:prstGeom prst="roundRect">
            <a:avLst>
              <a:gd name="adj" fmla="val 28572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结果判定 → 测试报告</a:t>
            </a:r>
            <a:endParaRPr lang="en-US" sz="550" dirty="0"/>
          </a:p>
        </p:txBody>
      </p:sp>
      <p:sp>
        <p:nvSpPr>
          <p:cNvPr id="27" name="Text 24"/>
          <p:cNvSpPr/>
          <p:nvPr/>
        </p:nvSpPr>
        <p:spPr>
          <a:xfrm>
            <a:off x="9715212" y="4098784"/>
            <a:ext cx="2039588" cy="177355"/>
          </a:xfrm>
          <a:prstGeom prst="roundRect">
            <a:avLst>
              <a:gd name="adj" fmla="val 28572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550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结果回传 / 资产</a:t>
            </a:r>
            <a:endParaRPr lang="en-US" sz="550" dirty="0"/>
          </a:p>
        </p:txBody>
      </p:sp>
      <p:sp>
        <p:nvSpPr>
          <p:cNvPr id="28" name="Shape 25"/>
          <p:cNvSpPr/>
          <p:nvPr/>
        </p:nvSpPr>
        <p:spPr>
          <a:xfrm>
            <a:off x="405384" y="4494717"/>
            <a:ext cx="114014" cy="76010"/>
          </a:xfrm>
          <a:prstGeom prst="roundRect">
            <a:avLst>
              <a:gd name="adj" fmla="val 25000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3836" y="4485215"/>
            <a:ext cx="722090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7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期计划（当前项目）</a:t>
            </a:r>
            <a:endParaRPr lang="en-US" sz="570" dirty="0"/>
          </a:p>
        </p:txBody>
      </p:sp>
      <p:sp>
        <p:nvSpPr>
          <p:cNvPr id="30" name="Shape 27"/>
          <p:cNvSpPr/>
          <p:nvPr/>
        </p:nvSpPr>
        <p:spPr>
          <a:xfrm>
            <a:off x="1425376" y="4494717"/>
            <a:ext cx="114014" cy="76010"/>
          </a:xfrm>
          <a:prstGeom prst="roundRect">
            <a:avLst>
              <a:gd name="adj" fmla="val 25000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</p:sp>
      <p:sp>
        <p:nvSpPr>
          <p:cNvPr id="31" name="Text 28"/>
          <p:cNvSpPr/>
          <p:nvPr/>
        </p:nvSpPr>
        <p:spPr>
          <a:xfrm>
            <a:off x="1583729" y="4485215"/>
            <a:ext cx="2103028" cy="95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57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目标工作流（愿景 · 含接口分支 / 需求→测试设计 / 下发执行机）</a:t>
            </a:r>
            <a:endParaRPr lang="en-US" sz="570" dirty="0"/>
          </a:p>
        </p:txBody>
      </p:sp>
      <p:sp>
        <p:nvSpPr>
          <p:cNvPr id="32" name="Text 29"/>
          <p:cNvSpPr/>
          <p:nvPr/>
        </p:nvSpPr>
        <p:spPr>
          <a:xfrm>
            <a:off x="9103325" y="4485215"/>
            <a:ext cx="2653998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7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期以 Excel 用例导入替代「需求 + 测试设计」，打通「执行→评估→资产」闭环</a:t>
            </a:r>
            <a:endParaRPr lang="en-US" sz="570" dirty="0"/>
          </a:p>
        </p:txBody>
      </p:sp>
      <p:sp>
        <p:nvSpPr>
          <p:cNvPr id="33" name="Text 30"/>
          <p:cNvSpPr/>
          <p:nvPr/>
        </p:nvSpPr>
        <p:spPr>
          <a:xfrm>
            <a:off x="403850" y="8491549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1 页 / 共 4 页</a:t>
            </a:r>
            <a:endParaRPr lang="en-US" sz="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65025"/>
            <a:ext cx="12161520" cy="4927949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1256395"/>
            <a:ext cx="11350752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调研与技术路线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05384" y="1402080"/>
            <a:ext cx="11350752" cy="25336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试点效果 &amp; 路线选择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5384" y="1731455"/>
            <a:ext cx="380048" cy="25337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6" name="Text 4"/>
          <p:cNvSpPr/>
          <p:nvPr/>
        </p:nvSpPr>
        <p:spPr>
          <a:xfrm>
            <a:off x="405384" y="1832801"/>
            <a:ext cx="11350752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599"/>
              </a:spcBef>
              <a:buNone/>
            </a:pPr>
            <a:r>
              <a:rPr lang="en-US" sz="70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openclaw 试点效果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05681" y="2003822"/>
            <a:ext cx="7499604" cy="1140143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6334">
            <a:solidFill>
              <a:srgbClr val="D9E2DC"/>
            </a:solidFill>
            <a:prstDash val="solid"/>
          </a:ln>
          <a:effectLst>
            <a:outerShdw sx="100000" sy="100000" kx="0" ky="0" algn="bl" rotWithShape="0" blurRad="63341" dist="12668" dir="5400000">
              <a:srgbClr val="284632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8698" y="2124170"/>
            <a:ext cx="7233571" cy="101346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</a:t>
            </a:r>
            <a:pPr algn="l" indent="0" marL="0">
              <a:spcAft>
                <a:spcPts val="349"/>
              </a:spcAft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：开源「通用 AI 助手 Agent」（消息/语音/多 Agent 路由 + 浏览器集成），</a:t>
            </a:r>
            <a:pPr algn="l" indent="0" marL="0"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本身不是测试工具</a:t>
            </a:r>
            <a:pPr algn="l" indent="0" marL="0">
              <a:spcAft>
                <a:spcPts val="349"/>
              </a:spcAft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 试点方式：用其浏览器能力直接跑 Web 自动化用例。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538698" y="2269855"/>
            <a:ext cx="7233571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简单流程能跑通——AI 可自主操作浏览器完成点击/输入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538698" y="2428208"/>
            <a:ext cx="7233571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判定靠 AI 自述「我觉得成功了」——结果不稳、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不可复现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538698" y="2586561"/>
            <a:ext cx="7233571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一次性执行，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不产出可维护测试代码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，回归每次重烧算力</a:t>
            </a:r>
            <a:endParaRPr lang="en-US" sz="550" dirty="0"/>
          </a:p>
        </p:txBody>
      </p:sp>
      <p:sp>
        <p:nvSpPr>
          <p:cNvPr id="12" name="Text 10"/>
          <p:cNvSpPr/>
          <p:nvPr/>
        </p:nvSpPr>
        <p:spPr>
          <a:xfrm>
            <a:off x="538698" y="2744915"/>
            <a:ext cx="7233571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无断言 / 登录态复用 / 权限 / 调度等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测试工程能力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538698" y="2903268"/>
            <a:ext cx="7233571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Node/TS 个人助手架构，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内网部署与合规裁剪成本高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8019299" y="2003822"/>
            <a:ext cx="3737134" cy="1140143"/>
          </a:xfrm>
          <a:prstGeom prst="roundRect">
            <a:avLst>
              <a:gd name="adj" fmla="val 6667"/>
            </a:avLst>
          </a:prstGeom>
          <a:solidFill>
            <a:srgbClr val="FAFBFA"/>
          </a:solidFill>
          <a:ln w="12668">
            <a:solidFill>
              <a:srgbClr val="8A948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试点录屏（待插入）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05384" y="3232642"/>
            <a:ext cx="11350752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698"/>
              </a:spcBef>
              <a:buNone/>
            </a:pPr>
            <a:r>
              <a:rPr lang="en-US" sz="70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基于 openclaw 二次开发　vs　自研 AI-Agent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5384" y="3397329"/>
          <a:ext cx="11350752" cy="914400"/>
        </p:xfrm>
        <a:graphic>
          <a:graphicData uri="http://schemas.openxmlformats.org/drawingml/2006/table">
            <a:tbl>
              <a:tblPr/>
              <a:tblGrid>
                <a:gridCol w="1701603"/>
                <a:gridCol w="4878068"/>
                <a:gridCol w="476474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FFFFFF"/>
                          </a:solidFill>
                          <a:highlight>
                            <a:srgbClr val="478D54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8D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FFFFFF"/>
                          </a:solidFill>
                          <a:highlight>
                            <a:srgbClr val="478D54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基于 openclaw 二次开发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8D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FFFFFF"/>
                          </a:solidFill>
                          <a:highlight>
                            <a:srgbClr val="478D54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 AI-Agent（T-Agent）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8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起步速度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快——复用现成 Agent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慢——执行/断言/codegen 从 0 搭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C47F1A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架构契合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个人助手框架(消息/语音/多Agent)，与测试场景错配，二开=削足适履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为测试而生，架构对口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C47F1A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结果判定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受其「AI 自述」范式约束，硬塞确定性断言层改造深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原生规则引擎确定性裁决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代码沉淀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无此概念，需大改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原生转译 pytest-bdd 可回放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可控 / 合规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依赖上游开源 + Node/TS 栈，内网合规裁剪难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完全自主 · Python 栈 · 内网 stdio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 / 演进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受上游路线牵制，定制易与上游冲突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自主演进，贴合内网业务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长期成本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二开包袱 + 持续适配上游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4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一次自建、可控</a:t>
                      </a:r>
                      <a:endParaRPr lang="en-US" sz="6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405384" y="5202555"/>
            <a:ext cx="11350752" cy="285036"/>
          </a:xfrm>
          <a:prstGeom prst="roundRect">
            <a:avLst>
              <a:gd name="adj" fmla="val 26667"/>
            </a:avLst>
          </a:prstGeom>
          <a:solidFill>
            <a:srgbClr val="356B41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定位错配（个人助手 ≠ 测试平台）：二次开发是</a:t>
            </a:r>
            <a:pPr algn="l" indent="0" marL="0">
              <a:lnSpc>
                <a:spcPts val="1047"/>
              </a:lnSpc>
              <a:buNone/>
            </a:pPr>
            <a:r>
              <a:rPr lang="en-US" sz="700" b="1" dirty="0">
                <a:solidFill>
                  <a:srgbClr val="BFE7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在错的地基上盖楼</a:t>
            </a:r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，改造成本高且受制于人。 自研虽起步慢，但</a:t>
            </a:r>
            <a:pPr algn="l" indent="0" marL="0">
              <a:lnSpc>
                <a:spcPts val="1047"/>
              </a:lnSpc>
              <a:buNone/>
            </a:pPr>
            <a:r>
              <a:rPr lang="en-US" sz="700" b="1" dirty="0">
                <a:solidFill>
                  <a:srgbClr val="BFE7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架构对口、判定与资产沉淀可原生实现、内网可控</a:t>
            </a:r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pPr algn="l" indent="0" marL="0">
              <a:lnSpc>
                <a:spcPts val="1047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选择自研</a:t>
            </a:r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03850" y="4470964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2 页 / 共 4 页</a:t>
            </a:r>
            <a:endParaRPr lang="en-US" sz="5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384" y="1832801"/>
            <a:ext cx="11350752" cy="120348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384" y="3232642"/>
            <a:ext cx="11350752" cy="1203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57741"/>
            <a:ext cx="12161520" cy="4142518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1648913"/>
            <a:ext cx="11350752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自研方案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05384" y="1794598"/>
            <a:ext cx="11350752" cy="25336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执行工作流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5384" y="2123972"/>
            <a:ext cx="380048" cy="25337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6" name="Text 4"/>
          <p:cNvSpPr/>
          <p:nvPr/>
        </p:nvSpPr>
        <p:spPr>
          <a:xfrm>
            <a:off x="405384" y="2226259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6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5556" y="2226259"/>
            <a:ext cx="7379256" cy="2913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5232" y="2269657"/>
            <a:ext cx="7233571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用例输入</a:t>
            </a:r>
            <a:endParaRPr lang="en-US" sz="640" dirty="0"/>
          </a:p>
        </p:txBody>
      </p:sp>
      <p:sp>
        <p:nvSpPr>
          <p:cNvPr id="9" name="Text 6"/>
          <p:cNvSpPr/>
          <p:nvPr/>
        </p:nvSpPr>
        <p:spPr>
          <a:xfrm>
            <a:off x="665232" y="2384612"/>
            <a:ext cx="7233571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完整用例导入 → 统一 TestCase　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工程化：前端上传→API→SQLModel 落库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405384" y="2563848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6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556" y="2563848"/>
            <a:ext cx="7379256" cy="29137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5232" y="2607246"/>
            <a:ext cx="7233571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用例预解析（AI 翻译 · 人工可审）</a:t>
            </a:r>
            <a:endParaRPr lang="en-US" sz="640" dirty="0"/>
          </a:p>
        </p:txBody>
      </p:sp>
      <p:sp>
        <p:nvSpPr>
          <p:cNvPr id="13" name="Text 9"/>
          <p:cNvSpPr/>
          <p:nvPr/>
        </p:nvSpPr>
        <p:spPr>
          <a:xfrm>
            <a:off x="665232" y="2722201"/>
            <a:ext cx="7233571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①预置条件三分类 ②TestSpec 生成(自然语言→结构化规格+断言) ③词汇表增强 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[precondition / pre_analysis / intelligence]</a:t>
            </a:r>
            <a:endParaRPr lang="en-US" sz="550" dirty="0"/>
          </a:p>
        </p:txBody>
      </p:sp>
      <p:sp>
        <p:nvSpPr>
          <p:cNvPr id="14" name="Text 10"/>
          <p:cNvSpPr/>
          <p:nvPr/>
        </p:nvSpPr>
        <p:spPr>
          <a:xfrm>
            <a:off x="405384" y="2901437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6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556" y="2901437"/>
            <a:ext cx="7379256" cy="29137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5232" y="2944835"/>
            <a:ext cx="7233571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执行准备</a:t>
            </a:r>
            <a:endParaRPr lang="en-US" sz="640" dirty="0"/>
          </a:p>
        </p:txBody>
      </p:sp>
      <p:sp>
        <p:nvSpPr>
          <p:cNvPr id="17" name="Text 12"/>
          <p:cNvSpPr/>
          <p:nvPr/>
        </p:nvSpPr>
        <p:spPr>
          <a:xfrm>
            <a:off x="665232" y="3059790"/>
            <a:ext cx="7233571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 Cookie 复用登录态 · 注入业务 Skill · 启动 playwright-mcp(stdio 内网友好) 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[session / skills / mcp_client]</a:t>
            </a:r>
            <a:endParaRPr lang="en-US" sz="550" dirty="0"/>
          </a:p>
        </p:txBody>
      </p:sp>
      <p:sp>
        <p:nvSpPr>
          <p:cNvPr id="18" name="Text 13"/>
          <p:cNvSpPr/>
          <p:nvPr/>
        </p:nvSpPr>
        <p:spPr>
          <a:xfrm>
            <a:off x="405384" y="3239026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6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5556" y="3239026"/>
            <a:ext cx="7379256" cy="29137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65232" y="3282424"/>
            <a:ext cx="7233571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自动化执行循环（逐步）</a:t>
            </a:r>
            <a:endParaRPr lang="en-US" sz="640" dirty="0"/>
          </a:p>
        </p:txBody>
      </p:sp>
      <p:sp>
        <p:nvSpPr>
          <p:cNvPr id="21" name="Text 15"/>
          <p:cNvSpPr/>
          <p:nvPr/>
        </p:nvSpPr>
        <p:spPr>
          <a:xfrm>
            <a:off x="665232" y="3397379"/>
            <a:ext cx="7233571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分层Prompt→LLM(tool_call容错)→权限校验→执行浏览器动作→抓A11y快照+截图；上下文压缩控token；护栏:循环检测/哑火续推/最大步数；每步实时 SSE 推送 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[react_loop / prompt / llm / permission / page_probe]</a:t>
            </a:r>
            <a:endParaRPr lang="en-US" sz="550" dirty="0"/>
          </a:p>
        </p:txBody>
      </p:sp>
      <p:sp>
        <p:nvSpPr>
          <p:cNvPr id="22" name="Text 16"/>
          <p:cNvSpPr/>
          <p:nvPr/>
        </p:nvSpPr>
        <p:spPr>
          <a:xfrm>
            <a:off x="405384" y="3576615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6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95556" y="3576615"/>
            <a:ext cx="7379256" cy="29137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65133" y="3620954"/>
            <a:ext cx="3585115" cy="202692"/>
          </a:xfrm>
          <a:prstGeom prst="rect">
            <a:avLst/>
          </a:prstGeom>
          <a:ln/>
        </p:spPr>
      </p:sp>
      <p:sp>
        <p:nvSpPr>
          <p:cNvPr id="25" name="Text 18"/>
          <p:cNvSpPr/>
          <p:nvPr/>
        </p:nvSpPr>
        <p:spPr>
          <a:xfrm>
            <a:off x="734808" y="3620013"/>
            <a:ext cx="3515439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C47F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动作报错 / 元素找不到 → AI 自愈</a:t>
            </a:r>
            <a:endParaRPr lang="en-US" sz="640" dirty="0"/>
          </a:p>
        </p:txBody>
      </p:sp>
      <p:sp>
        <p:nvSpPr>
          <p:cNvPr id="26" name="Text 19"/>
          <p:cNvSpPr/>
          <p:nvPr/>
        </p:nvSpPr>
        <p:spPr>
          <a:xfrm>
            <a:off x="734808" y="3734968"/>
            <a:ext cx="3515439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工具问题→重定位回灌继续 · 业务问题→标记失败 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[healing]</a:t>
            </a:r>
            <a:endParaRPr lang="en-US" sz="550" dirty="0"/>
          </a:p>
        </p:txBody>
      </p:sp>
      <p:sp>
        <p:nvSpPr>
          <p:cNvPr id="27" name="Shape 20"/>
          <p:cNvSpPr/>
          <p:nvPr/>
        </p:nvSpPr>
        <p:spPr>
          <a:xfrm>
            <a:off x="4313737" y="3620954"/>
            <a:ext cx="3585115" cy="202692"/>
          </a:xfrm>
          <a:prstGeom prst="rect">
            <a:avLst/>
          </a:prstGeom>
          <a:ln/>
        </p:spPr>
      </p:sp>
      <p:sp>
        <p:nvSpPr>
          <p:cNvPr id="28" name="Text 21"/>
          <p:cNvSpPr/>
          <p:nvPr/>
        </p:nvSpPr>
        <p:spPr>
          <a:xfrm>
            <a:off x="4383412" y="3620013"/>
            <a:ext cx="3515439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步骤正常完成</a:t>
            </a:r>
            <a:endParaRPr lang="en-US" sz="640" dirty="0"/>
          </a:p>
        </p:txBody>
      </p:sp>
      <p:sp>
        <p:nvSpPr>
          <p:cNvPr id="29" name="Text 22"/>
          <p:cNvSpPr/>
          <p:nvPr/>
        </p:nvSpPr>
        <p:spPr>
          <a:xfrm>
            <a:off x="4383412" y="3734968"/>
            <a:ext cx="3515439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mark_step_done → 进入断言</a:t>
            </a:r>
            <a:endParaRPr lang="en-US" sz="550" dirty="0"/>
          </a:p>
        </p:txBody>
      </p:sp>
      <p:sp>
        <p:nvSpPr>
          <p:cNvPr id="30" name="Text 23"/>
          <p:cNvSpPr/>
          <p:nvPr/>
        </p:nvSpPr>
        <p:spPr>
          <a:xfrm>
            <a:off x="405384" y="3914204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C47F1A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4★</a:t>
            </a:r>
            <a:endParaRPr lang="en-US" sz="65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5556" y="3914204"/>
            <a:ext cx="7379256" cy="29137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5232" y="3957603"/>
            <a:ext cx="7233571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确定性断言验证（规则引擎，非 AI 眼判）</a:t>
            </a:r>
            <a:endParaRPr lang="en-US" sz="640" dirty="0"/>
          </a:p>
        </p:txBody>
      </p:sp>
      <p:sp>
        <p:nvSpPr>
          <p:cNvPr id="33" name="Text 25"/>
          <p:cNvSpPr/>
          <p:nvPr/>
        </p:nvSpPr>
        <p:spPr>
          <a:xfrm>
            <a:off x="665232" y="4072557"/>
            <a:ext cx="7233571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DOM/文本/URL/数据(custom_tool)确定性比较；找不到→重定位复验；任一 FAIL 即不通过（不取 AI 自报） 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[assertion]</a:t>
            </a:r>
            <a:endParaRPr lang="en-US" sz="550" dirty="0"/>
          </a:p>
        </p:txBody>
      </p:sp>
      <p:sp>
        <p:nvSpPr>
          <p:cNvPr id="34" name="Text 26"/>
          <p:cNvSpPr/>
          <p:nvPr/>
        </p:nvSpPr>
        <p:spPr>
          <a:xfrm>
            <a:off x="405384" y="4251793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6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5556" y="4251793"/>
            <a:ext cx="7379256" cy="29137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665133" y="4296132"/>
            <a:ext cx="3585115" cy="202692"/>
          </a:xfrm>
          <a:prstGeom prst="rect">
            <a:avLst/>
          </a:prstGeom>
          <a:ln/>
        </p:spPr>
      </p:sp>
      <p:sp>
        <p:nvSpPr>
          <p:cNvPr id="37" name="Text 28"/>
          <p:cNvSpPr/>
          <p:nvPr/>
        </p:nvSpPr>
        <p:spPr>
          <a:xfrm>
            <a:off x="734808" y="4295192"/>
            <a:ext cx="3515439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 → 转译代码生成</a:t>
            </a:r>
            <a:endParaRPr lang="en-US" sz="640" dirty="0"/>
          </a:p>
        </p:txBody>
      </p:sp>
      <p:sp>
        <p:nvSpPr>
          <p:cNvPr id="38" name="Text 29"/>
          <p:cNvSpPr/>
          <p:nvPr/>
        </p:nvSpPr>
        <p:spPr>
          <a:xfrm>
            <a:off x="734808" y="4410146"/>
            <a:ext cx="3515439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执行轨迹→稳健定位器→pytest-bdd Playwright 落盘可回放 + 词汇表回写 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[codegen]</a:t>
            </a:r>
            <a:endParaRPr lang="en-US" sz="550" dirty="0"/>
          </a:p>
        </p:txBody>
      </p:sp>
      <p:sp>
        <p:nvSpPr>
          <p:cNvPr id="39" name="Shape 30"/>
          <p:cNvSpPr/>
          <p:nvPr/>
        </p:nvSpPr>
        <p:spPr>
          <a:xfrm>
            <a:off x="4313737" y="4296132"/>
            <a:ext cx="3585115" cy="202692"/>
          </a:xfrm>
          <a:prstGeom prst="rect">
            <a:avLst/>
          </a:prstGeom>
          <a:ln/>
        </p:spPr>
      </p:sp>
      <p:sp>
        <p:nvSpPr>
          <p:cNvPr id="40" name="Text 31"/>
          <p:cNvSpPr/>
          <p:nvPr/>
        </p:nvSpPr>
        <p:spPr>
          <a:xfrm>
            <a:off x="4383412" y="4295192"/>
            <a:ext cx="3515439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C47F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→ 失败留痕</a:t>
            </a:r>
            <a:endParaRPr lang="en-US" sz="640" dirty="0"/>
          </a:p>
        </p:txBody>
      </p:sp>
      <p:sp>
        <p:nvSpPr>
          <p:cNvPr id="41" name="Text 32"/>
          <p:cNvSpPr/>
          <p:nvPr/>
        </p:nvSpPr>
        <p:spPr>
          <a:xfrm>
            <a:off x="4383412" y="4410146"/>
            <a:ext cx="3515439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断言差异+截图+prompt+自愈过程</a:t>
            </a:r>
            <a:endParaRPr lang="en-US" sz="550" dirty="0"/>
          </a:p>
        </p:txBody>
      </p:sp>
      <p:sp>
        <p:nvSpPr>
          <p:cNvPr id="42" name="Text 33"/>
          <p:cNvSpPr/>
          <p:nvPr/>
        </p:nvSpPr>
        <p:spPr>
          <a:xfrm>
            <a:off x="405384" y="4589382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650" dirty="0"/>
          </a:p>
        </p:txBody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95556" y="4589382"/>
            <a:ext cx="7379256" cy="29137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665232" y="4632781"/>
            <a:ext cx="7233571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结果报告 + 资产沉淀</a:t>
            </a:r>
            <a:endParaRPr lang="en-US" sz="640" dirty="0"/>
          </a:p>
        </p:txBody>
      </p:sp>
      <p:sp>
        <p:nvSpPr>
          <p:cNvPr id="45" name="Text 35"/>
          <p:cNvSpPr/>
          <p:nvPr/>
        </p:nvSpPr>
        <p:spPr>
          <a:xfrm>
            <a:off x="665232" y="4747735"/>
            <a:ext cx="7233571" cy="8867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 Cookie 落盘供复用 · 执行记录全留痕 · SQLModel 持久化 + SSE + 前端结果抽屉可视化 </a:t>
            </a:r>
            <a:pPr algn="l" indent="0" marL="0">
              <a:lnSpc>
                <a:spcPts val="648"/>
              </a:lnSpc>
              <a:buNone/>
            </a:pPr>
            <a:r>
              <a:rPr lang="en-US" sz="500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[recorder / session]</a:t>
            </a:r>
            <a:endParaRPr lang="en-US" sz="550" dirty="0"/>
          </a:p>
        </p:txBody>
      </p:sp>
      <p:sp>
        <p:nvSpPr>
          <p:cNvPr id="46" name="Text 36"/>
          <p:cNvSpPr/>
          <p:nvPr/>
        </p:nvSpPr>
        <p:spPr>
          <a:xfrm>
            <a:off x="405532" y="4925041"/>
            <a:ext cx="7569279" cy="171021"/>
          </a:xfrm>
          <a:prstGeom prst="roundRect">
            <a:avLst>
              <a:gd name="adj" fmla="val 29630"/>
            </a:avLst>
          </a:prstGeom>
          <a:solidFill>
            <a:srgbClr val="1F2A2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33"/>
              </a:lnSpc>
              <a:buNone/>
            </a:pPr>
            <a:r>
              <a:rPr lang="en-US" sz="520" b="1" dirty="0">
                <a:solidFill>
                  <a:srgbClr val="D8E6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Suite 批量层：</a:t>
            </a:r>
            <a:pPr algn="l" indent="0" marL="0">
              <a:lnSpc>
                <a:spcPts val="733"/>
              </a:lnSpc>
              <a:buNone/>
            </a:pPr>
            <a:r>
              <a:rPr lang="en-US" sz="520" dirty="0">
                <a:solidFill>
                  <a:srgbClr val="D8E6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并发调度 + 用例间隔离｜execution_worker 每 run 独立线程/事件循环/存储（根治执行期 API 卡顿）</a:t>
            </a:r>
            <a:endParaRPr lang="en-US" sz="520" dirty="0"/>
          </a:p>
        </p:txBody>
      </p:sp>
      <p:sp>
        <p:nvSpPr>
          <p:cNvPr id="47" name="Text 37"/>
          <p:cNvSpPr/>
          <p:nvPr/>
        </p:nvSpPr>
        <p:spPr>
          <a:xfrm>
            <a:off x="8063490" y="2225318"/>
            <a:ext cx="3692795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工程化优点 · 可用 / 可管 / 可沉淀</a:t>
            </a:r>
            <a:endParaRPr lang="en-US" sz="650" dirty="0"/>
          </a:p>
        </p:txBody>
      </p:sp>
      <p:sp>
        <p:nvSpPr>
          <p:cNvPr id="48" name="Shape 38"/>
          <p:cNvSpPr/>
          <p:nvPr/>
        </p:nvSpPr>
        <p:spPr>
          <a:xfrm>
            <a:off x="8063490" y="2395845"/>
            <a:ext cx="3692795" cy="329375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49" name="Text 39"/>
          <p:cNvSpPr/>
          <p:nvPr/>
        </p:nvSpPr>
        <p:spPr>
          <a:xfrm>
            <a:off x="8164836" y="2453347"/>
            <a:ext cx="3509105" cy="101346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登录态复用 </a:t>
            </a:r>
            <a:pPr algn="l" indent="0" marL="0">
              <a:buNone/>
            </a:pPr>
            <a:r>
              <a:rPr lang="en-US" sz="4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 · 6</a:t>
            </a:r>
            <a:endParaRPr lang="en-US" sz="620" dirty="0"/>
          </a:p>
        </p:txBody>
      </p:sp>
      <p:sp>
        <p:nvSpPr>
          <p:cNvPr id="50" name="Text 40"/>
          <p:cNvSpPr/>
          <p:nvPr/>
        </p:nvSpPr>
        <p:spPr>
          <a:xfrm>
            <a:off x="8164836" y="2573200"/>
            <a:ext cx="3509105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Cookie 跨用例复用，免重复登录；实测步数 </a:t>
            </a:r>
            <a:pPr algn="l" indent="0" marL="0">
              <a:lnSpc>
                <a:spcPts val="741"/>
              </a:lnSpc>
              <a:buNone/>
            </a:pPr>
            <a:r>
              <a:rPr lang="en-US" sz="5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7→3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550" dirty="0"/>
          </a:p>
        </p:txBody>
      </p:sp>
      <p:sp>
        <p:nvSpPr>
          <p:cNvPr id="51" name="Shape 41"/>
          <p:cNvSpPr/>
          <p:nvPr/>
        </p:nvSpPr>
        <p:spPr>
          <a:xfrm>
            <a:off x="8063490" y="2787571"/>
            <a:ext cx="3692795" cy="329375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52" name="Text 42"/>
          <p:cNvSpPr/>
          <p:nvPr/>
        </p:nvSpPr>
        <p:spPr>
          <a:xfrm>
            <a:off x="8164836" y="2845073"/>
            <a:ext cx="3509105" cy="101346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项目初始化 AW 复用 </a:t>
            </a:r>
            <a:pPr algn="l" indent="0" marL="0">
              <a:buNone/>
            </a:pPr>
            <a:r>
              <a:rPr lang="en-US" sz="4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</a:t>
            </a:r>
            <a:endParaRPr lang="en-US" sz="620" dirty="0"/>
          </a:p>
        </p:txBody>
      </p:sp>
      <p:sp>
        <p:nvSpPr>
          <p:cNvPr id="53" name="Text 43"/>
          <p:cNvSpPr/>
          <p:nvPr/>
        </p:nvSpPr>
        <p:spPr>
          <a:xfrm>
            <a:off x="8164836" y="2964926"/>
            <a:ext cx="3509105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登录/前置 action-word 经 Hook </a:t>
            </a:r>
            <a:pPr algn="l" indent="0" marL="0">
              <a:lnSpc>
                <a:spcPts val="741"/>
              </a:lnSpc>
              <a:buNone/>
            </a:pPr>
            <a:r>
              <a:rPr lang="en-US" sz="5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跨用例·套件共享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，一处定义处处复用。</a:t>
            </a:r>
            <a:endParaRPr lang="en-US" sz="550" dirty="0"/>
          </a:p>
        </p:txBody>
      </p:sp>
      <p:sp>
        <p:nvSpPr>
          <p:cNvPr id="54" name="Shape 44"/>
          <p:cNvSpPr/>
          <p:nvPr/>
        </p:nvSpPr>
        <p:spPr>
          <a:xfrm>
            <a:off x="8063490" y="3179297"/>
            <a:ext cx="3692795" cy="329375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55" name="Text 45"/>
          <p:cNvSpPr/>
          <p:nvPr/>
        </p:nvSpPr>
        <p:spPr>
          <a:xfrm>
            <a:off x="8164836" y="3236799"/>
            <a:ext cx="3509105" cy="101346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自定义工具加载 </a:t>
            </a:r>
            <a:pPr algn="l" indent="0" marL="0">
              <a:buNone/>
            </a:pPr>
            <a:r>
              <a:rPr lang="en-US" sz="4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 · 4</a:t>
            </a:r>
            <a:endParaRPr lang="en-US" sz="620" dirty="0"/>
          </a:p>
        </p:txBody>
      </p:sp>
      <p:sp>
        <p:nvSpPr>
          <p:cNvPr id="56" name="Text 46"/>
          <p:cNvSpPr/>
          <p:nvPr/>
        </p:nvSpPr>
        <p:spPr>
          <a:xfrm>
            <a:off x="8164836" y="3356652"/>
            <a:ext cx="3509105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 声明外部命令，执行期 LLM </a:t>
            </a:r>
            <a:pPr algn="l" indent="0" marL="0">
              <a:lnSpc>
                <a:spcPts val="741"/>
              </a:lnSpc>
              <a:buNone/>
            </a:pPr>
            <a:r>
              <a:rPr lang="en-US" sz="5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按需调用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作</a:t>
            </a:r>
            <a:pPr algn="l" indent="0" marL="0">
              <a:lnSpc>
                <a:spcPts val="741"/>
              </a:lnSpc>
              <a:buNone/>
            </a:pPr>
            <a:r>
              <a:rPr lang="en-US" sz="5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数据断言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取业务真值。</a:t>
            </a:r>
            <a:endParaRPr lang="en-US" sz="550" dirty="0"/>
          </a:p>
        </p:txBody>
      </p:sp>
      <p:sp>
        <p:nvSpPr>
          <p:cNvPr id="57" name="Shape 47"/>
          <p:cNvSpPr/>
          <p:nvPr/>
        </p:nvSpPr>
        <p:spPr>
          <a:xfrm>
            <a:off x="8063490" y="3571023"/>
            <a:ext cx="3692795" cy="329375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58" name="Text 48"/>
          <p:cNvSpPr/>
          <p:nvPr/>
        </p:nvSpPr>
        <p:spPr>
          <a:xfrm>
            <a:off x="8164836" y="3628525"/>
            <a:ext cx="3509105" cy="101346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词汇表 </a:t>
            </a:r>
            <a:pPr algn="l" indent="0" marL="0">
              <a:buNone/>
            </a:pPr>
            <a:r>
              <a:rPr lang="en-US" sz="4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 · 3 · 5</a:t>
            </a:r>
            <a:endParaRPr lang="en-US" sz="620" dirty="0"/>
          </a:p>
        </p:txBody>
      </p:sp>
      <p:sp>
        <p:nvSpPr>
          <p:cNvPr id="59" name="Text 49"/>
          <p:cNvSpPr/>
          <p:nvPr/>
        </p:nvSpPr>
        <p:spPr>
          <a:xfrm>
            <a:off x="8164836" y="3748378"/>
            <a:ext cx="3509105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业务词→真实元素，</a:t>
            </a:r>
            <a:pPr algn="l" indent="0" marL="0">
              <a:lnSpc>
                <a:spcPts val="741"/>
              </a:lnSpc>
              <a:buNone/>
            </a:pPr>
            <a:r>
              <a:rPr lang="en-US" sz="5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跨语言/抗改版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5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定位；执行期增量沉淀、可前端维护。</a:t>
            </a:r>
            <a:endParaRPr lang="en-US" sz="550" dirty="0"/>
          </a:p>
        </p:txBody>
      </p:sp>
      <p:sp>
        <p:nvSpPr>
          <p:cNvPr id="60" name="Text 50"/>
          <p:cNvSpPr/>
          <p:nvPr/>
        </p:nvSpPr>
        <p:spPr>
          <a:xfrm>
            <a:off x="8063490" y="4893173"/>
            <a:ext cx="3692795" cy="202692"/>
          </a:xfrm>
          <a:prstGeom prst="roundRect">
            <a:avLst>
              <a:gd name="adj" fmla="val 25000"/>
            </a:avLst>
          </a:prstGeom>
          <a:solidFill>
            <a:srgbClr val="F3F8F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86"/>
              </a:lnSpc>
              <a:buNone/>
            </a:pPr>
            <a:r>
              <a:rPr lang="en-US" sz="52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读图主线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52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：AI 只管翻译/执行/自愈，</a:t>
            </a:r>
            <a:pPr algn="l" indent="0" marL="0">
              <a:lnSpc>
                <a:spcPts val="786"/>
              </a:lnSpc>
              <a:buNone/>
            </a:pPr>
            <a:r>
              <a:rPr lang="en-US" sz="52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判定归规则引擎(★)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52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；成功即转译</a:t>
            </a:r>
            <a:pPr algn="l" indent="0" marL="0">
              <a:lnSpc>
                <a:spcPts val="786"/>
              </a:lnSpc>
              <a:buNone/>
            </a:pPr>
            <a:r>
              <a:rPr lang="en-US" sz="52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可回放代码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52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；全程 </a:t>
            </a:r>
            <a:pPr algn="l" indent="0" marL="0">
              <a:lnSpc>
                <a:spcPts val="786"/>
              </a:lnSpc>
              <a:buNone/>
            </a:pPr>
            <a:r>
              <a:rPr lang="en-US" sz="52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实时 + 全留痕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52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520" dirty="0"/>
          </a:p>
        </p:txBody>
      </p:sp>
      <p:sp>
        <p:nvSpPr>
          <p:cNvPr id="61" name="Text 51"/>
          <p:cNvSpPr/>
          <p:nvPr/>
        </p:nvSpPr>
        <p:spPr>
          <a:xfrm>
            <a:off x="403850" y="-64468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3 页 / 共 4 页</a:t>
            </a:r>
            <a:endParaRPr lang="en-US" sz="550" dirty="0"/>
          </a:p>
        </p:txBody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5556" y="2226259"/>
            <a:ext cx="7379256" cy="291370"/>
          </a:xfrm>
          <a:prstGeom prst="rect">
            <a:avLst/>
          </a:prstGeom>
        </p:spPr>
      </p:pic>
      <p:pic>
        <p:nvPicPr>
          <p:cNvPr id="63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95556" y="2563848"/>
            <a:ext cx="7379256" cy="291370"/>
          </a:xfrm>
          <a:prstGeom prst="rect">
            <a:avLst/>
          </a:prstGeom>
        </p:spPr>
      </p:pic>
      <p:pic>
        <p:nvPicPr>
          <p:cNvPr id="64" name="Image 10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95556" y="2901437"/>
            <a:ext cx="7379256" cy="291370"/>
          </a:xfrm>
          <a:prstGeom prst="rect">
            <a:avLst/>
          </a:prstGeom>
        </p:spPr>
      </p:pic>
      <p:pic>
        <p:nvPicPr>
          <p:cNvPr id="65" name="Image 11" descr="preencoded.pn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95556" y="3239026"/>
            <a:ext cx="7379256" cy="291370"/>
          </a:xfrm>
          <a:prstGeom prst="rect">
            <a:avLst/>
          </a:prstGeom>
        </p:spPr>
      </p:pic>
      <p:pic>
        <p:nvPicPr>
          <p:cNvPr id="66" name="Image 12" descr="preencoded.png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5556" y="3576615"/>
            <a:ext cx="7379256" cy="291370"/>
          </a:xfrm>
          <a:prstGeom prst="rect">
            <a:avLst/>
          </a:prstGeom>
        </p:spPr>
      </p:pic>
      <p:pic>
        <p:nvPicPr>
          <p:cNvPr id="67" name="Image 13" descr="preencoded.png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65133" y="3620954"/>
            <a:ext cx="3585115" cy="202692"/>
          </a:xfrm>
          <a:prstGeom prst="rect">
            <a:avLst/>
          </a:prstGeom>
        </p:spPr>
      </p:pic>
      <p:pic>
        <p:nvPicPr>
          <p:cNvPr id="68" name="Image 14" descr="preencoded.png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313737" y="3620954"/>
            <a:ext cx="3585115" cy="202692"/>
          </a:xfrm>
          <a:prstGeom prst="rect">
            <a:avLst/>
          </a:prstGeom>
        </p:spPr>
      </p:pic>
      <p:pic>
        <p:nvPicPr>
          <p:cNvPr id="69" name="Image 15" descr="preencoded.png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95556" y="3914204"/>
            <a:ext cx="7379256" cy="291370"/>
          </a:xfrm>
          <a:prstGeom prst="rect">
            <a:avLst/>
          </a:prstGeom>
        </p:spPr>
      </p:pic>
      <p:pic>
        <p:nvPicPr>
          <p:cNvPr id="70" name="Image 16" descr="preencoded.png">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595556" y="4251793"/>
            <a:ext cx="7379256" cy="291370"/>
          </a:xfrm>
          <a:prstGeom prst="rect">
            <a:avLst/>
          </a:prstGeom>
        </p:spPr>
      </p:pic>
      <p:pic>
        <p:nvPicPr>
          <p:cNvPr id="71" name="Image 17" descr="preencoded.png">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665133" y="4296132"/>
            <a:ext cx="3585115" cy="202692"/>
          </a:xfrm>
          <a:prstGeom prst="rect">
            <a:avLst/>
          </a:prstGeom>
        </p:spPr>
      </p:pic>
      <p:pic>
        <p:nvPicPr>
          <p:cNvPr id="72" name="Image 18" descr="preencoded.png">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4313737" y="4296132"/>
            <a:ext cx="3585115" cy="202692"/>
          </a:xfrm>
          <a:prstGeom prst="rect">
            <a:avLst/>
          </a:prstGeom>
        </p:spPr>
      </p:pic>
      <p:pic>
        <p:nvPicPr>
          <p:cNvPr id="73" name="Image 19" descr="preencoded.png">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595556" y="4589382"/>
            <a:ext cx="7379256" cy="291370"/>
          </a:xfrm>
          <a:prstGeom prst="rect">
            <a:avLst/>
          </a:prstGeom>
        </p:spPr>
      </p:pic>
      <p:pic>
        <p:nvPicPr>
          <p:cNvPr id="74" name="Image 20" descr="preencoded.png">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8063490" y="2225318"/>
            <a:ext cx="3692795" cy="107680"/>
          </a:xfrm>
          <a:prstGeom prst="rect">
            <a:avLst/>
          </a:prstGeom>
        </p:spPr>
      </p:pic>
      <p:pic>
        <p:nvPicPr>
          <p:cNvPr id="75" name="Image 21" descr="preencoded.png">    </p:cNvPr>
          <p:cNvPicPr>
            <a:picLocks noChangeAspect="1"/>
          </p:cNvPicPr>
          <p:nvPr/>
        </p:nvPicPr>
        <p:blipFill>
          <a:blip r:embed="rId43"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8063490" y="2395845"/>
            <a:ext cx="3692795" cy="329375"/>
          </a:xfrm>
          <a:prstGeom prst="rect">
            <a:avLst/>
          </a:prstGeom>
        </p:spPr>
      </p:pic>
      <p:pic>
        <p:nvPicPr>
          <p:cNvPr id="76" name="Image 22" descr="preencoded.png">    </p:cNvPr>
          <p:cNvPicPr>
            <a:picLocks noChangeAspect="1"/>
          </p:cNvPicPr>
          <p:nvPr/>
        </p:nvPicPr>
        <p:blipFill>
          <a:blip r:embed="rId45"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8063490" y="2787571"/>
            <a:ext cx="3692795" cy="329375"/>
          </a:xfrm>
          <a:prstGeom prst="rect">
            <a:avLst/>
          </a:prstGeom>
        </p:spPr>
      </p:pic>
      <p:pic>
        <p:nvPicPr>
          <p:cNvPr id="77" name="Image 23" descr="preencoded.png">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8063490" y="3179297"/>
            <a:ext cx="3692795" cy="329375"/>
          </a:xfrm>
          <a:prstGeom prst="rect">
            <a:avLst/>
          </a:prstGeom>
        </p:spPr>
      </p:pic>
      <p:pic>
        <p:nvPicPr>
          <p:cNvPr id="78" name="Image 24" descr="preencoded.png">    </p:cNvPr>
          <p:cNvPicPr>
            <a:picLocks noChangeAspect="1"/>
          </p:cNvPicPr>
          <p:nvPr/>
        </p:nvPicPr>
        <p:blipFill>
          <a:blip r:embed="rId49"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8063490" y="3571023"/>
            <a:ext cx="3692795" cy="3293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02951"/>
            <a:ext cx="12161520" cy="3452098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1993232"/>
            <a:ext cx="11350752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 · 进展 · 计划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05384" y="2138917"/>
            <a:ext cx="11350752" cy="25336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效果演示 · 当前进展 · 下一步计划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5384" y="2468291"/>
            <a:ext cx="380048" cy="25337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6" name="Text 4"/>
          <p:cNvSpPr/>
          <p:nvPr/>
        </p:nvSpPr>
        <p:spPr>
          <a:xfrm>
            <a:off x="406621" y="2569637"/>
            <a:ext cx="5472684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演示录屏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06621" y="2741451"/>
            <a:ext cx="5472684" cy="1279493"/>
          </a:xfrm>
          <a:prstGeom prst="roundRect">
            <a:avLst>
              <a:gd name="adj" fmla="val 5941"/>
            </a:avLst>
          </a:prstGeom>
          <a:solidFill>
            <a:srgbClr val="FAFBFA"/>
          </a:solidFill>
          <a:ln w="12668">
            <a:solidFill>
              <a:srgbClr val="8A94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038450" y="2993232"/>
            <a:ext cx="209026" cy="32304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743864" y="3373279"/>
            <a:ext cx="798100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演示录屏（待插入）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354365" y="3549051"/>
            <a:ext cx="1577197" cy="221694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57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建议：并排 openclaw vs T-Agent 跑同一用例，</a:t>
            </a:r>
            <a:pPr algn="ctr" indent="0" marL="0">
              <a:buNone/>
            </a:pPr>
            <a:endParaRPr lang="en-US" sz="570" dirty="0"/>
          </a:p>
          <a:p>
            <a:pPr algn="ctr" indent="0" marL="0">
              <a:lnSpc>
                <a:spcPts val="860"/>
              </a:lnSpc>
              <a:buNone/>
            </a:pPr>
            <a:r>
              <a:rPr lang="en-US" sz="57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对比「判定方式」与「有无代码产出」</a:t>
            </a:r>
            <a:endParaRPr lang="en-US" sz="570" dirty="0"/>
          </a:p>
        </p:txBody>
      </p:sp>
      <p:sp>
        <p:nvSpPr>
          <p:cNvPr id="11" name="Text 9"/>
          <p:cNvSpPr/>
          <p:nvPr/>
        </p:nvSpPr>
        <p:spPr>
          <a:xfrm>
            <a:off x="6005988" y="2569637"/>
            <a:ext cx="5751385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当前进展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005988" y="2740659"/>
            <a:ext cx="5751385" cy="16468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执行引擎 ✓</a:t>
            </a:r>
            <a:pPr algn="l" indent="0" marL="0">
              <a:spcBef>
                <a:spcPts val="399"/>
              </a:spcBef>
              <a:buNone/>
            </a:pPr>
            <a:r>
              <a:rPr lang="en-US" sz="8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5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能力 ✓</a:t>
            </a:r>
            <a:pPr algn="l" indent="0" marL="0">
              <a:spcBef>
                <a:spcPts val="399"/>
              </a:spcBef>
              <a:buNone/>
            </a:pPr>
            <a:r>
              <a:rPr lang="en-US" sz="8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5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输出层 ✓</a:t>
            </a:r>
            <a:pPr algn="l" indent="0" marL="0">
              <a:spcBef>
                <a:spcPts val="399"/>
              </a:spcBef>
              <a:buNone/>
            </a:pPr>
            <a:r>
              <a:rPr lang="en-US" sz="8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57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工程化界面 ✓</a:t>
            </a:r>
            <a:pPr algn="l" indent="0" marL="0">
              <a:spcBef>
                <a:spcPts val="399"/>
              </a:spcBef>
              <a:buNone/>
            </a:pPr>
            <a:r>
              <a:rPr lang="en-US" sz="8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570" b="1" dirty="0">
                <a:solidFill>
                  <a:srgbClr val="C47F1A"/>
                </a:solidFill>
                <a:highlight>
                  <a:srgbClr val="FDF3E0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内网验证 ⟳</a:t>
            </a:r>
            <a:endParaRPr lang="en-US" sz="570" dirty="0"/>
          </a:p>
        </p:txBody>
      </p:sp>
      <p:sp>
        <p:nvSpPr>
          <p:cNvPr id="13" name="Text 11"/>
          <p:cNvSpPr/>
          <p:nvPr/>
        </p:nvSpPr>
        <p:spPr>
          <a:xfrm>
            <a:off x="6005988" y="2968687"/>
            <a:ext cx="5751385" cy="101346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499"/>
              </a:spcBef>
              <a:buNone/>
            </a:pPr>
            <a:r>
              <a:rPr lang="en-US" sz="62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真实环境 live 验证（DeepSeek + 真实 Chrome）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6005988" y="3108038"/>
            <a:ext cx="5751385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基础流程：登录+加购，断言通过、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多轮稳定复现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6005988" y="3266391"/>
            <a:ext cx="5751385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复杂多步：完整结算 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步全过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 次自动自愈</a:t>
            </a:r>
            <a:endParaRPr lang="en-US" sz="550" dirty="0"/>
          </a:p>
        </p:txBody>
      </p:sp>
      <p:sp>
        <p:nvSpPr>
          <p:cNvPr id="16" name="Text 14"/>
          <p:cNvSpPr/>
          <p:nvPr/>
        </p:nvSpPr>
        <p:spPr>
          <a:xfrm>
            <a:off x="6005988" y="3424744"/>
            <a:ext cx="5751385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代码转译：生成代码 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 真实回放通过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6005988" y="3583097"/>
            <a:ext cx="5751385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登录态复用：Cookie 注入免登录，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步数 7→3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6005988" y="3741451"/>
            <a:ext cx="5751385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550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数据断言 + 全链路：custom_tool 确定性比较、</a:t>
            </a:r>
            <a:pPr algn="l" indent="0" marL="0">
              <a:lnSpc>
                <a:spcPts val="842"/>
              </a:lnSpc>
              <a:buNone/>
            </a:pPr>
            <a:r>
              <a:rPr lang="en-US" sz="62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API+SSE</a:t>
            </a:r>
            <a:pPr algn="l" indent="0" marL="0">
              <a:lnSpc>
                <a:spcPts val="842"/>
              </a:lnSpc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端到端跑通</a:t>
            </a:r>
            <a:endParaRPr lang="en-US" sz="550" dirty="0"/>
          </a:p>
        </p:txBody>
      </p:sp>
      <p:sp>
        <p:nvSpPr>
          <p:cNvPr id="19" name="Text 17"/>
          <p:cNvSpPr/>
          <p:nvPr/>
        </p:nvSpPr>
        <p:spPr>
          <a:xfrm>
            <a:off x="6005988" y="3913264"/>
            <a:ext cx="5751385" cy="10768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860"/>
              </a:lnSpc>
              <a:spcBef>
                <a:spcPts val="399"/>
              </a:spcBef>
              <a:buNone/>
            </a:pPr>
            <a:r>
              <a:rPr lang="en-US" sz="57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质量基线：约 </a:t>
            </a:r>
            <a:pPr algn="l" indent="0" marL="0">
              <a:lnSpc>
                <a:spcPts val="860"/>
              </a:lnSpc>
              <a:buNone/>
            </a:pPr>
            <a:r>
              <a:rPr lang="en-US" sz="57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378</a:t>
            </a:r>
            <a:pPr algn="l" indent="0" marL="0">
              <a:lnSpc>
                <a:spcPts val="860"/>
              </a:lnSpc>
              <a:spcBef>
                <a:spcPts val="399"/>
              </a:spcBef>
              <a:buNone/>
            </a:pPr>
            <a:r>
              <a:rPr lang="en-US" sz="57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个单元测试。当前转入 </a:t>
            </a:r>
            <a:pPr algn="l" indent="0" marL="0">
              <a:lnSpc>
                <a:spcPts val="860"/>
              </a:lnSpc>
              <a:buNone/>
            </a:pPr>
            <a:r>
              <a:rPr lang="en-US" sz="57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真实内网业务系统</a:t>
            </a:r>
            <a:pPr algn="l" indent="0" marL="0">
              <a:lnSpc>
                <a:spcPts val="860"/>
              </a:lnSpc>
              <a:spcBef>
                <a:spcPts val="399"/>
              </a:spcBef>
              <a:buNone/>
            </a:pPr>
            <a:r>
              <a:rPr lang="en-US" sz="57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验证。</a:t>
            </a:r>
            <a:endParaRPr lang="en-US" sz="570" dirty="0"/>
          </a:p>
        </p:txBody>
      </p:sp>
      <p:sp>
        <p:nvSpPr>
          <p:cNvPr id="20" name="Text 18"/>
          <p:cNvSpPr/>
          <p:nvPr/>
        </p:nvSpPr>
        <p:spPr>
          <a:xfrm>
            <a:off x="405384" y="4097745"/>
            <a:ext cx="11350752" cy="120348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599"/>
              </a:spcBef>
              <a:buNone/>
            </a:pPr>
            <a:r>
              <a:rPr lang="en-US" sz="70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下一步计划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05384" y="4269063"/>
            <a:ext cx="1076801" cy="481394"/>
          </a:xfrm>
          <a:prstGeom prst="roundRect">
            <a:avLst>
              <a:gd name="adj" fmla="val 13158"/>
            </a:avLst>
          </a:prstGeom>
          <a:solidFill>
            <a:srgbClr val="F3F8F4"/>
          </a:solidFill>
          <a:ln/>
        </p:spPr>
      </p:sp>
      <p:sp>
        <p:nvSpPr>
          <p:cNvPr id="22" name="Text 20"/>
          <p:cNvSpPr/>
          <p:nvPr/>
        </p:nvSpPr>
        <p:spPr>
          <a:xfrm>
            <a:off x="538401" y="4332108"/>
            <a:ext cx="836105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1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538401" y="4433751"/>
            <a:ext cx="836105" cy="14568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1050" b="1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30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8401" y="4586066"/>
            <a:ext cx="836105" cy="101346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 1 期计划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1570863" y="4269063"/>
            <a:ext cx="10185273" cy="481394"/>
          </a:xfrm>
          <a:prstGeom prst="roundRect">
            <a:avLst>
              <a:gd name="adj" fmla="val 13158"/>
            </a:avLst>
          </a:prstGeom>
          <a:solidFill>
            <a:srgbClr val="FAFBFA"/>
          </a:solidFill>
          <a:ln w="12668">
            <a:solidFill>
              <a:srgbClr val="8A948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后续里程碑（待补充）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403850" y="-3863062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4 页 / 共 4 页</a:t>
            </a:r>
            <a:endParaRPr lang="en-US" sz="55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6621" y="2569637"/>
            <a:ext cx="5472684" cy="120348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5988" y="2569637"/>
            <a:ext cx="5751385" cy="120348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384" y="4097745"/>
            <a:ext cx="11350752" cy="120348"/>
          </a:xfrm>
          <a:prstGeom prst="rect">
            <a:avLst/>
          </a:prstGeom>
        </p:spPr>
      </p:pic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5384" y="4269063"/>
            <a:ext cx="1076801" cy="4813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2026-06-08T08:22:40Z</dcterms:created>
  <dcterms:modified xsi:type="dcterms:W3CDTF">2026-06-08T08:22:40Z</dcterms:modified>
</cp:coreProperties>
</file>