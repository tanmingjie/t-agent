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image" Target="../media/image-3-9.png"/><Relationship Id="rId10" Type="http://schemas.openxmlformats.org/officeDocument/2006/relationships/image" Target="../media/image-3-10.svg"/><Relationship Id="rId11" Type="http://schemas.openxmlformats.org/officeDocument/2006/relationships/image" Target="../media/image-3-11.png"/><Relationship Id="rId12" Type="http://schemas.openxmlformats.org/officeDocument/2006/relationships/image" Target="../media/image-3-12.svg"/><Relationship Id="rId13" Type="http://schemas.openxmlformats.org/officeDocument/2006/relationships/image" Target="../media/image-3-13.png"/><Relationship Id="rId14" Type="http://schemas.openxmlformats.org/officeDocument/2006/relationships/image" Target="../media/image-3-14.svg"/><Relationship Id="rId15" Type="http://schemas.openxmlformats.org/officeDocument/2006/relationships/image" Target="../media/image-3-15.png"/><Relationship Id="rId16" Type="http://schemas.openxmlformats.org/officeDocument/2006/relationships/image" Target="../media/image-3-16.svg"/><Relationship Id="rId17" Type="http://schemas.openxmlformats.org/officeDocument/2006/relationships/image" Target="../media/image-3-17.png"/><Relationship Id="rId18" Type="http://schemas.openxmlformats.org/officeDocument/2006/relationships/image" Target="../media/image-3-18.svg"/><Relationship Id="rId19" Type="http://schemas.openxmlformats.org/officeDocument/2006/relationships/image" Target="../media/image-3-19.png"/><Relationship Id="rId20" Type="http://schemas.openxmlformats.org/officeDocument/2006/relationships/image" Target="../media/image-3-20.svg"/><Relationship Id="rId21" Type="http://schemas.openxmlformats.org/officeDocument/2006/relationships/image" Target="../media/image-3-21.png"/><Relationship Id="rId22" Type="http://schemas.openxmlformats.org/officeDocument/2006/relationships/image" Target="../media/image-3-22.svg"/><Relationship Id="rId23" Type="http://schemas.openxmlformats.org/officeDocument/2006/relationships/image" Target="../media/image-3-23.png"/><Relationship Id="rId24" Type="http://schemas.openxmlformats.org/officeDocument/2006/relationships/image" Target="../media/image-3-24.svg"/><Relationship Id="rId25" Type="http://schemas.openxmlformats.org/officeDocument/2006/relationships/image" Target="../media/image-3-25.png"/><Relationship Id="rId26" Type="http://schemas.openxmlformats.org/officeDocument/2006/relationships/image" Target="../media/image-3-26.svg"/><Relationship Id="rId27" Type="http://schemas.openxmlformats.org/officeDocument/2006/relationships/image" Target="../media/image-3-27.png"/><Relationship Id="rId28" Type="http://schemas.openxmlformats.org/officeDocument/2006/relationships/image" Target="../media/image-3-28.svg"/><Relationship Id="rId29" Type="http://schemas.openxmlformats.org/officeDocument/2006/relationships/image" Target="../media/image-3-29.png"/><Relationship Id="rId30" Type="http://schemas.openxmlformats.org/officeDocument/2006/relationships/image" Target="../media/image-3-30.svg"/><Relationship Id="rId31" Type="http://schemas.openxmlformats.org/officeDocument/2006/relationships/image" Target="../media/image-3-31.png"/><Relationship Id="rId32" Type="http://schemas.openxmlformats.org/officeDocument/2006/relationships/image" Target="../media/image-3-32.svg"/><Relationship Id="rId33" Type="http://schemas.openxmlformats.org/officeDocument/2006/relationships/image" Target="../media/image-3-33.png"/><Relationship Id="rId34" Type="http://schemas.openxmlformats.org/officeDocument/2006/relationships/image" Target="../media/image-3-34.svg"/><Relationship Id="rId35" Type="http://schemas.openxmlformats.org/officeDocument/2006/relationships/image" Target="../media/image-3-35.png"/><Relationship Id="rId36" Type="http://schemas.openxmlformats.org/officeDocument/2006/relationships/image" Target="../media/image-3-36.svg"/><Relationship Id="rId37" Type="http://schemas.openxmlformats.org/officeDocument/2006/relationships/image" Target="../media/image-3-37.png"/><Relationship Id="rId38" Type="http://schemas.openxmlformats.org/officeDocument/2006/relationships/image" Target="../media/image-3-38.svg"/><Relationship Id="rId39" Type="http://schemas.openxmlformats.org/officeDocument/2006/relationships/image" Target="../media/image-3-39.png"/><Relationship Id="rId40" Type="http://schemas.openxmlformats.org/officeDocument/2006/relationships/image" Target="../media/image-3-40.svg"/><Relationship Id="rId41" Type="http://schemas.openxmlformats.org/officeDocument/2006/relationships/image" Target="../media/image-3-41.png"/><Relationship Id="rId42" Type="http://schemas.openxmlformats.org/officeDocument/2006/relationships/image" Target="../media/image-3-42.svg"/><Relationship Id="rId43" Type="http://schemas.openxmlformats.org/officeDocument/2006/relationships/image" Target="../media/image-3-43.png"/><Relationship Id="rId44" Type="http://schemas.openxmlformats.org/officeDocument/2006/relationships/image" Target="../media/image-3-44.svg"/><Relationship Id="rId45" Type="http://schemas.openxmlformats.org/officeDocument/2006/relationships/image" Target="../media/image-3-45.png"/><Relationship Id="rId46" Type="http://schemas.openxmlformats.org/officeDocument/2006/relationships/image" Target="../media/image-3-46.svg"/><Relationship Id="rId47" Type="http://schemas.openxmlformats.org/officeDocument/2006/relationships/image" Target="../media/image-3-47.png"/><Relationship Id="rId48" Type="http://schemas.openxmlformats.org/officeDocument/2006/relationships/image" Target="../media/image-3-48.svg"/><Relationship Id="rId49" Type="http://schemas.openxmlformats.org/officeDocument/2006/relationships/image" Target="../media/image-3-49.png"/><Relationship Id="rId50" Type="http://schemas.openxmlformats.org/officeDocument/2006/relationships/image" Target="../media/image-3-50.svg"/><Relationship Id="rId51" Type="http://schemas.openxmlformats.org/officeDocument/2006/relationships/slideLayout" Target="../slideLayouts/slideLayout1.xml"/><Relationship Id="rId5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0040"/>
            <a:ext cx="12161520" cy="6217920"/>
          </a:xfrm>
          <a:prstGeom prst="rect">
            <a:avLst/>
          </a:prstGeom>
          <a:solidFill>
            <a:srgbClr val="EEF1EE"/>
          </a:solidFill>
          <a:ln/>
        </p:spPr>
      </p:sp>
      <p:sp>
        <p:nvSpPr>
          <p:cNvPr id="3" name="Text 1"/>
          <p:cNvSpPr/>
          <p:nvPr/>
        </p:nvSpPr>
        <p:spPr>
          <a:xfrm>
            <a:off x="405384" y="904551"/>
            <a:ext cx="11350752" cy="240122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875" b="1" spc="100" kern="0" dirty="0">
                <a:solidFill>
                  <a:srgbClr val="478D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进度汇报</a:t>
            </a:r>
            <a:endParaRPr lang="en-US" sz="875" dirty="0"/>
          </a:p>
        </p:txBody>
      </p:sp>
      <p:sp>
        <p:nvSpPr>
          <p:cNvPr id="4" name="Text 2"/>
          <p:cNvSpPr/>
          <p:nvPr/>
        </p:nvSpPr>
        <p:spPr>
          <a:xfrm>
            <a:off x="405384" y="1195224"/>
            <a:ext cx="11350752" cy="505521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875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辅助自动化测试平台 · 进度汇报</a:t>
            </a:r>
            <a:endParaRPr lang="en-US" sz="1875" dirty="0"/>
          </a:p>
        </p:txBody>
      </p:sp>
      <p:sp>
        <p:nvSpPr>
          <p:cNvPr id="5" name="Text 3"/>
          <p:cNvSpPr/>
          <p:nvPr/>
        </p:nvSpPr>
        <p:spPr>
          <a:xfrm>
            <a:off x="405384" y="1798692"/>
            <a:ext cx="11350752" cy="290675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1122"/>
              </a:lnSpc>
              <a:buNone/>
            </a:pPr>
            <a:r>
              <a:rPr lang="en-US" sz="937" b="1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目的：</a:t>
            </a:r>
            <a:pPr algn="l" indent="0" marL="0">
              <a:lnSpc>
                <a:spcPts val="1122"/>
              </a:lnSpc>
              <a:spcBef>
                <a:spcPts val="399"/>
              </a:spcBef>
              <a:buNone/>
            </a:pPr>
            <a:r>
              <a:rPr lang="en-US" sz="937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 T-Agent 研发进度，并回答「为什么自研、与 openclaw 跑自动化的本质区别」。　</a:t>
            </a:r>
            <a:pPr algn="l" indent="0" marL="0">
              <a:lnSpc>
                <a:spcPts val="1122"/>
              </a:lnSpc>
              <a:buNone/>
            </a:pPr>
            <a:r>
              <a:rPr lang="en-US" sz="937" b="1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背景：</a:t>
            </a:r>
            <a:pPr algn="l" indent="0" marL="0">
              <a:lnSpc>
                <a:spcPts val="1122"/>
              </a:lnSpc>
              <a:spcBef>
                <a:spcPts val="399"/>
              </a:spcBef>
              <a:buNone/>
            </a:pPr>
            <a:r>
              <a:rPr lang="en-US" sz="937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内网 Web 业务回归长期依赖人工，自动化脚本编写门槛高、随页面改版频繁失效，维护成本压垮收益。</a:t>
            </a:r>
            <a:endParaRPr lang="en-US" sz="937" dirty="0"/>
          </a:p>
        </p:txBody>
      </p:sp>
      <p:sp>
        <p:nvSpPr>
          <p:cNvPr id="6" name="Shape 4"/>
          <p:cNvSpPr/>
          <p:nvPr/>
        </p:nvSpPr>
        <p:spPr>
          <a:xfrm>
            <a:off x="405384" y="2237864"/>
            <a:ext cx="380048" cy="50553"/>
          </a:xfrm>
          <a:prstGeom prst="roundRect">
            <a:avLst>
              <a:gd name="adj" fmla="val 49999"/>
            </a:avLst>
          </a:prstGeom>
          <a:solidFill>
            <a:srgbClr val="478D54"/>
          </a:solidFill>
          <a:ln/>
        </p:spPr>
      </p:sp>
      <p:sp>
        <p:nvSpPr>
          <p:cNvPr id="7" name="Text 5"/>
          <p:cNvSpPr/>
          <p:nvPr/>
        </p:nvSpPr>
        <p:spPr>
          <a:xfrm>
            <a:off x="1192053" y="2465348"/>
            <a:ext cx="2039588" cy="631901"/>
          </a:xfrm>
          <a:prstGeom prst="roundRect">
            <a:avLst>
              <a:gd name="adj" fmla="val 18000"/>
            </a:avLst>
          </a:prstGeom>
          <a:solidFill>
            <a:srgbClr val="6AA676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837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需求文档</a:t>
            </a:r>
            <a:pPr algn="ctr" indent="0" marL="0">
              <a:spcBef>
                <a:spcPts val="100"/>
              </a:spcBef>
              <a:buNone/>
            </a:pPr>
            <a:r>
              <a:rPr lang="en-US" sz="587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REQUIREMENTS</a:t>
            </a:r>
            <a:endParaRPr lang="en-US" sz="837" dirty="0"/>
          </a:p>
        </p:txBody>
      </p:sp>
      <p:sp>
        <p:nvSpPr>
          <p:cNvPr id="8" name="Text 6"/>
          <p:cNvSpPr/>
          <p:nvPr/>
        </p:nvSpPr>
        <p:spPr>
          <a:xfrm>
            <a:off x="3322842" y="2465348"/>
            <a:ext cx="2039588" cy="631901"/>
          </a:xfrm>
          <a:prstGeom prst="roundRect">
            <a:avLst>
              <a:gd name="adj" fmla="val 18000"/>
            </a:avLst>
          </a:prstGeom>
          <a:solidFill>
            <a:srgbClr val="589162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837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测试设计</a:t>
            </a:r>
            <a:pPr algn="ctr" indent="0" marL="0">
              <a:spcBef>
                <a:spcPts val="100"/>
              </a:spcBef>
              <a:buNone/>
            </a:pPr>
            <a:r>
              <a:rPr lang="en-US" sz="587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测试点 / 用例设计</a:t>
            </a:r>
            <a:endParaRPr lang="en-US" sz="837" dirty="0"/>
          </a:p>
        </p:txBody>
      </p:sp>
      <p:sp>
        <p:nvSpPr>
          <p:cNvPr id="9" name="Text 7"/>
          <p:cNvSpPr/>
          <p:nvPr/>
        </p:nvSpPr>
        <p:spPr>
          <a:xfrm>
            <a:off x="5453632" y="2465348"/>
            <a:ext cx="2039588" cy="631901"/>
          </a:xfrm>
          <a:prstGeom prst="roundRect">
            <a:avLst>
              <a:gd name="adj" fmla="val 18000"/>
            </a:avLst>
          </a:prstGeom>
          <a:solidFill>
            <a:srgbClr val="478D54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837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测试执行</a:t>
            </a:r>
            <a:pPr algn="ctr" indent="0" marL="0">
              <a:spcBef>
                <a:spcPts val="100"/>
              </a:spcBef>
              <a:buNone/>
            </a:pPr>
            <a:r>
              <a:rPr lang="en-US" sz="587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EXECUTION</a:t>
            </a:r>
            <a:endParaRPr lang="en-US" sz="837" dirty="0"/>
          </a:p>
        </p:txBody>
      </p:sp>
      <p:sp>
        <p:nvSpPr>
          <p:cNvPr id="10" name="Text 8"/>
          <p:cNvSpPr/>
          <p:nvPr/>
        </p:nvSpPr>
        <p:spPr>
          <a:xfrm>
            <a:off x="7584422" y="2465348"/>
            <a:ext cx="2039588" cy="631901"/>
          </a:xfrm>
          <a:prstGeom prst="roundRect">
            <a:avLst>
              <a:gd name="adj" fmla="val 18000"/>
            </a:avLst>
          </a:prstGeom>
          <a:solidFill>
            <a:srgbClr val="3C7848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837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测试评估</a:t>
            </a:r>
            <a:pPr algn="ctr" indent="0" marL="0">
              <a:spcBef>
                <a:spcPts val="100"/>
              </a:spcBef>
              <a:buNone/>
            </a:pPr>
            <a:r>
              <a:rPr lang="en-US" sz="587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 / 报表</a:t>
            </a:r>
            <a:endParaRPr lang="en-US" sz="837" dirty="0"/>
          </a:p>
        </p:txBody>
      </p:sp>
      <p:sp>
        <p:nvSpPr>
          <p:cNvPr id="11" name="Text 9"/>
          <p:cNvSpPr/>
          <p:nvPr/>
        </p:nvSpPr>
        <p:spPr>
          <a:xfrm>
            <a:off x="9715212" y="2465348"/>
            <a:ext cx="2039588" cy="631901"/>
          </a:xfrm>
          <a:prstGeom prst="roundRect">
            <a:avLst>
              <a:gd name="adj" fmla="val 18000"/>
            </a:avLst>
          </a:prstGeom>
          <a:solidFill>
            <a:srgbClr val="2F5F39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837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测试资产</a:t>
            </a:r>
            <a:pPr algn="ctr" indent="0" marL="0">
              <a:spcBef>
                <a:spcPts val="100"/>
              </a:spcBef>
              <a:buNone/>
            </a:pPr>
            <a:r>
              <a:rPr lang="en-US" sz="587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ASSETS</a:t>
            </a:r>
            <a:endParaRPr lang="en-US" sz="837" dirty="0"/>
          </a:p>
        </p:txBody>
      </p:sp>
      <p:sp>
        <p:nvSpPr>
          <p:cNvPr id="12" name="Text 10"/>
          <p:cNvSpPr/>
          <p:nvPr/>
        </p:nvSpPr>
        <p:spPr>
          <a:xfrm>
            <a:off x="405384" y="3811300"/>
            <a:ext cx="291370" cy="1074234"/>
          </a:xfrm>
          <a:prstGeom prst="roundRect">
            <a:avLst>
              <a:gd name="adj" fmla="val 21739"/>
            </a:avLst>
          </a:prstGeom>
          <a:solidFill>
            <a:srgbClr val="1F2A24"/>
          </a:solidFill>
          <a:ln/>
        </p:spPr>
        <p:txBody>
          <a:bodyPr wrap="square" lIns="0" tIns="0" rIns="0" bIns="0" rtlCol="0" anchor="ctr" vert="wordArtVertRtl">
            <a:spAutoFit/>
          </a:bodyPr>
          <a:lstStyle/>
          <a:p>
            <a:pPr algn="l" indent="0" marL="0">
              <a:buNone/>
            </a:pPr>
            <a:r>
              <a:rPr lang="en-US" sz="775" b="1" spc="150" kern="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测试需求</a:t>
            </a:r>
            <a:endParaRPr lang="en-US" sz="775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ns3:svgBlip r:embed="rId2"/>
              </a:ext>
            </a:extLst>
          </a:blip>
          <a:stretch>
            <a:fillRect/>
          </a:stretch>
        </p:blipFill>
        <p:spPr>
          <a:xfrm>
            <a:off x="405384" y="3810017"/>
            <a:ext cx="696754" cy="1076801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191013" y="3327303"/>
            <a:ext cx="817102" cy="240122"/>
          </a:xfrm>
          <a:prstGeom prst="roundRect">
            <a:avLst>
              <a:gd name="adj" fmla="val 50000"/>
            </a:avLst>
          </a:prstGeom>
          <a:solidFill>
            <a:srgbClr val="478D54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687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期计划（当前项目）</a:t>
            </a:r>
            <a:endParaRPr lang="en-US" sz="687" dirty="0"/>
          </a:p>
        </p:txBody>
      </p:sp>
      <p:sp>
        <p:nvSpPr>
          <p:cNvPr id="15" name="Text 12"/>
          <p:cNvSpPr/>
          <p:nvPr/>
        </p:nvSpPr>
        <p:spPr>
          <a:xfrm>
            <a:off x="1190172" y="3640688"/>
            <a:ext cx="4174188" cy="543435"/>
          </a:xfrm>
          <a:prstGeom prst="roundRect">
            <a:avLst>
              <a:gd name="adj" fmla="val 18605"/>
            </a:avLst>
          </a:prstGeom>
          <a:solidFill>
            <a:srgbClr val="EAF5EC"/>
          </a:solidFill>
          <a:ln w="6334">
            <a:solidFill>
              <a:srgbClr val="478D54"/>
            </a:solidFill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713"/>
              </a:lnSpc>
              <a:buNone/>
            </a:pPr>
            <a:r>
              <a:rPr lang="en-US" sz="687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 完整用例导入 → 用例预解析</a:t>
            </a:r>
            <a:pPr algn="ctr" indent="0" marL="0">
              <a:buNone/>
            </a:pPr>
            <a:endParaRPr lang="en-US" sz="687" dirty="0"/>
          </a:p>
          <a:p>
            <a:pPr algn="ctr" indent="0" marL="0">
              <a:lnSpc>
                <a:spcPts val="648"/>
              </a:lnSpc>
              <a:buNone/>
            </a:pPr>
            <a:r>
              <a:rPr lang="en-US" sz="625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替代「需求文档 + 测试设计」的方案</a:t>
            </a:r>
            <a:endParaRPr lang="en-US" sz="687" dirty="0"/>
          </a:p>
        </p:txBody>
      </p:sp>
      <p:sp>
        <p:nvSpPr>
          <p:cNvPr id="16" name="Text 13"/>
          <p:cNvSpPr/>
          <p:nvPr/>
        </p:nvSpPr>
        <p:spPr>
          <a:xfrm>
            <a:off x="5453632" y="3482711"/>
            <a:ext cx="2039588" cy="543435"/>
          </a:xfrm>
          <a:prstGeom prst="roundRect">
            <a:avLst>
              <a:gd name="adj" fmla="val 18605"/>
            </a:avLst>
          </a:prstGeom>
          <a:solidFill>
            <a:srgbClr val="EAF5EC"/>
          </a:solidFill>
          <a:ln w="6334">
            <a:solidFill>
              <a:srgbClr val="478D54"/>
            </a:solidFill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713"/>
              </a:lnSpc>
              <a:buNone/>
            </a:pPr>
            <a:r>
              <a:rPr lang="en-US" sz="687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playwright-mcp 自动化执行</a:t>
            </a:r>
            <a:pPr algn="ctr" indent="0" marL="0">
              <a:buNone/>
            </a:pPr>
            <a:endParaRPr lang="en-US" sz="687" dirty="0"/>
          </a:p>
          <a:p>
            <a:pPr algn="ctr" indent="0" marL="0">
              <a:lnSpc>
                <a:spcPts val="648"/>
              </a:lnSpc>
              <a:buNone/>
            </a:pPr>
            <a:r>
              <a:rPr lang="en-US" sz="625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ReAct·护栏·AI自愈 + 确定性断言判定（规则引擎·非眼判）</a:t>
            </a:r>
            <a:endParaRPr lang="en-US" sz="687" dirty="0"/>
          </a:p>
        </p:txBody>
      </p:sp>
      <p:sp>
        <p:nvSpPr>
          <p:cNvPr id="17" name="Text 14"/>
          <p:cNvSpPr/>
          <p:nvPr/>
        </p:nvSpPr>
        <p:spPr>
          <a:xfrm>
            <a:off x="7584422" y="3482711"/>
            <a:ext cx="2039588" cy="543435"/>
          </a:xfrm>
          <a:prstGeom prst="roundRect">
            <a:avLst>
              <a:gd name="adj" fmla="val 18605"/>
            </a:avLst>
          </a:prstGeom>
          <a:solidFill>
            <a:srgbClr val="EAF5EC"/>
          </a:solidFill>
          <a:ln w="6334">
            <a:solidFill>
              <a:srgbClr val="478D54"/>
            </a:solidFill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713"/>
              </a:lnSpc>
              <a:buNone/>
            </a:pPr>
            <a:r>
              <a:rPr lang="en-US" sz="687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测试报告 / 报表</a:t>
            </a:r>
            <a:pPr algn="ctr" indent="0" marL="0">
              <a:buNone/>
            </a:pPr>
            <a:endParaRPr lang="en-US" sz="687" dirty="0"/>
          </a:p>
          <a:p>
            <a:pPr algn="ctr" indent="0" marL="0">
              <a:lnSpc>
                <a:spcPts val="648"/>
              </a:lnSpc>
              <a:buNone/>
            </a:pPr>
            <a:r>
              <a:rPr lang="en-US" sz="625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通过率·断言详情·截图</a:t>
            </a:r>
            <a:endParaRPr lang="en-US" sz="687" dirty="0"/>
          </a:p>
        </p:txBody>
      </p:sp>
      <p:sp>
        <p:nvSpPr>
          <p:cNvPr id="18" name="Text 15"/>
          <p:cNvSpPr/>
          <p:nvPr/>
        </p:nvSpPr>
        <p:spPr>
          <a:xfrm>
            <a:off x="9715212" y="3482711"/>
            <a:ext cx="2039588" cy="543435"/>
          </a:xfrm>
          <a:prstGeom prst="roundRect">
            <a:avLst>
              <a:gd name="adj" fmla="val 18605"/>
            </a:avLst>
          </a:prstGeom>
          <a:solidFill>
            <a:srgbClr val="EAF5EC"/>
          </a:solidFill>
          <a:ln w="6334">
            <a:solidFill>
              <a:srgbClr val="478D54"/>
            </a:solidFill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713"/>
              </a:lnSpc>
              <a:buNone/>
            </a:pPr>
            <a:r>
              <a:rPr lang="en-US" sz="687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转译代码（可回放）</a:t>
            </a:r>
            <a:pPr algn="ctr" indent="0" marL="0">
              <a:buNone/>
            </a:pPr>
            <a:endParaRPr lang="en-US" sz="687" dirty="0"/>
          </a:p>
          <a:p>
            <a:pPr algn="ctr" indent="0" marL="0">
              <a:lnSpc>
                <a:spcPts val="648"/>
              </a:lnSpc>
              <a:buNone/>
            </a:pPr>
            <a:r>
              <a:rPr lang="en-US" sz="625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pytest-bdd + 词汇表沉淀</a:t>
            </a:r>
            <a:endParaRPr lang="en-US" sz="687" dirty="0"/>
          </a:p>
        </p:txBody>
      </p:sp>
      <p:sp>
        <p:nvSpPr>
          <p:cNvPr id="19" name="Text 16"/>
          <p:cNvSpPr/>
          <p:nvPr/>
        </p:nvSpPr>
        <p:spPr>
          <a:xfrm>
            <a:off x="1190816" y="4515279"/>
            <a:ext cx="475059" cy="240122"/>
          </a:xfrm>
          <a:prstGeom prst="roundRect">
            <a:avLst>
              <a:gd name="adj" fmla="val 50000"/>
            </a:avLst>
          </a:prstGeom>
          <a:solidFill>
            <a:srgbClr val="E3E8E4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687" b="1" dirty="0">
                <a:solidFill>
                  <a:srgbClr val="828D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目标工作流</a:t>
            </a:r>
            <a:endParaRPr lang="en-US" sz="687" dirty="0"/>
          </a:p>
        </p:txBody>
      </p:sp>
      <p:sp>
        <p:nvSpPr>
          <p:cNvPr id="20" name="Text 17"/>
          <p:cNvSpPr/>
          <p:nvPr/>
        </p:nvSpPr>
        <p:spPr>
          <a:xfrm>
            <a:off x="1192053" y="4828662"/>
            <a:ext cx="2039588" cy="543435"/>
          </a:xfrm>
          <a:prstGeom prst="roundRect">
            <a:avLst>
              <a:gd name="adj" fmla="val 18605"/>
            </a:avLst>
          </a:prstGeom>
          <a:solidFill>
            <a:srgbClr val="F5F6F5"/>
          </a:solidFill>
          <a:ln w="6334">
            <a:solidFill>
              <a:srgbClr val="BCC5BE"/>
            </a:solidFill>
            <a:prstDash val="dash"/>
          </a:ln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713"/>
              </a:lnSpc>
              <a:buNone/>
            </a:pPr>
            <a:r>
              <a:rPr lang="en-US" sz="687" dirty="0">
                <a:solidFill>
                  <a:srgbClr val="7681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需求文档 / PRD</a:t>
            </a:r>
            <a:pPr algn="ctr" indent="0" marL="0">
              <a:buNone/>
            </a:pPr>
            <a:endParaRPr lang="en-US" sz="687" dirty="0"/>
          </a:p>
          <a:p>
            <a:pPr algn="ctr" indent="0" marL="0">
              <a:lnSpc>
                <a:spcPts val="648"/>
              </a:lnSpc>
              <a:buNone/>
            </a:pPr>
            <a:r>
              <a:rPr lang="en-US" sz="625" dirty="0">
                <a:solidFill>
                  <a:srgbClr val="7681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baseUrl · 登录aw · api docs</a:t>
            </a:r>
            <a:endParaRPr lang="en-US" sz="687" dirty="0"/>
          </a:p>
        </p:txBody>
      </p:sp>
      <p:sp>
        <p:nvSpPr>
          <p:cNvPr id="21" name="Shape 18"/>
          <p:cNvSpPr/>
          <p:nvPr/>
        </p:nvSpPr>
        <p:spPr>
          <a:xfrm>
            <a:off x="3322842" y="4462160"/>
            <a:ext cx="2039588" cy="960492"/>
          </a:xfrm>
          <a:prstGeom prst="roundRect">
            <a:avLst>
              <a:gd name="adj" fmla="val 10526"/>
            </a:avLst>
          </a:prstGeom>
          <a:solidFill>
            <a:srgbClr val="F5F6F5"/>
          </a:solidFill>
          <a:ln w="6334">
            <a:solidFill>
              <a:srgbClr val="BCC5BE"/>
            </a:solidFill>
            <a:prstDash val="dash"/>
          </a:ln>
        </p:spPr>
      </p:sp>
      <p:sp>
        <p:nvSpPr>
          <p:cNvPr id="22" name="Text 19"/>
          <p:cNvSpPr/>
          <p:nvPr/>
        </p:nvSpPr>
        <p:spPr>
          <a:xfrm>
            <a:off x="3373515" y="4550627"/>
            <a:ext cx="1938242" cy="176933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625" b="1" dirty="0">
                <a:solidFill>
                  <a:srgbClr val="7681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测试点 / 用例设计</a:t>
            </a:r>
            <a:endParaRPr lang="en-US" sz="625" dirty="0"/>
          </a:p>
        </p:txBody>
      </p:sp>
      <p:sp>
        <p:nvSpPr>
          <p:cNvPr id="23" name="Text 20"/>
          <p:cNvSpPr/>
          <p:nvPr/>
        </p:nvSpPr>
        <p:spPr>
          <a:xfrm>
            <a:off x="3373515" y="4778111"/>
            <a:ext cx="1938242" cy="25276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6334">
            <a:solidFill>
              <a:srgbClr val="E2E7E3"/>
            </a:solidFill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25" dirty="0">
                <a:solidFill>
                  <a:srgbClr val="6C77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xmind 测试点设计</a:t>
            </a:r>
            <a:endParaRPr lang="en-US" sz="625" dirty="0"/>
          </a:p>
        </p:txBody>
      </p:sp>
      <p:sp>
        <p:nvSpPr>
          <p:cNvPr id="24" name="Text 21"/>
          <p:cNvSpPr/>
          <p:nvPr/>
        </p:nvSpPr>
        <p:spPr>
          <a:xfrm>
            <a:off x="3373515" y="5081424"/>
            <a:ext cx="1938242" cy="25276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6334">
            <a:solidFill>
              <a:srgbClr val="E2E7E3"/>
            </a:solidFill>
            <a:prstDash val="solid"/>
          </a:ln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25" dirty="0">
                <a:solidFill>
                  <a:srgbClr val="6C77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测试用例设计 + 审核</a:t>
            </a:r>
            <a:endParaRPr lang="en-US" sz="625" dirty="0"/>
          </a:p>
        </p:txBody>
      </p:sp>
      <p:sp>
        <p:nvSpPr>
          <p:cNvPr id="25" name="Text 22"/>
          <p:cNvSpPr/>
          <p:nvPr/>
        </p:nvSpPr>
        <p:spPr>
          <a:xfrm>
            <a:off x="5453632" y="4670688"/>
            <a:ext cx="2039588" cy="543435"/>
          </a:xfrm>
          <a:prstGeom prst="roundRect">
            <a:avLst>
              <a:gd name="adj" fmla="val 18605"/>
            </a:avLst>
          </a:prstGeom>
          <a:solidFill>
            <a:srgbClr val="F5F6F5"/>
          </a:solidFill>
          <a:ln w="6334">
            <a:solidFill>
              <a:srgbClr val="BCC5BE"/>
            </a:solidFill>
            <a:prstDash val="dash"/>
          </a:ln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713"/>
              </a:lnSpc>
              <a:buNone/>
            </a:pPr>
            <a:r>
              <a:rPr lang="en-US" sz="687" dirty="0">
                <a:solidFill>
                  <a:srgbClr val="7681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接口自动化</a:t>
            </a:r>
            <a:pPr algn="ctr" indent="0" marL="0">
              <a:buNone/>
            </a:pPr>
            <a:endParaRPr lang="en-US" sz="687" dirty="0"/>
          </a:p>
          <a:p>
            <a:pPr algn="ctr" indent="0" marL="0">
              <a:lnSpc>
                <a:spcPts val="713"/>
              </a:lnSpc>
              <a:buNone/>
            </a:pPr>
            <a:r>
              <a:rPr lang="en-US" sz="687" dirty="0">
                <a:solidFill>
                  <a:srgbClr val="7681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代码生成 → 下发执行机</a:t>
            </a:r>
            <a:endParaRPr lang="en-US" sz="687" dirty="0"/>
          </a:p>
        </p:txBody>
      </p:sp>
      <p:sp>
        <p:nvSpPr>
          <p:cNvPr id="26" name="Text 23"/>
          <p:cNvSpPr/>
          <p:nvPr/>
        </p:nvSpPr>
        <p:spPr>
          <a:xfrm>
            <a:off x="7584422" y="4765374"/>
            <a:ext cx="2039588" cy="353864"/>
          </a:xfrm>
          <a:prstGeom prst="roundRect">
            <a:avLst>
              <a:gd name="adj" fmla="val 28572"/>
            </a:avLst>
          </a:prstGeom>
          <a:solidFill>
            <a:srgbClr val="F5F6F5"/>
          </a:solidFill>
          <a:ln w="6334">
            <a:solidFill>
              <a:srgbClr val="BCC5BE"/>
            </a:solidFill>
            <a:prstDash val="dash"/>
          </a:ln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713"/>
              </a:lnSpc>
              <a:buNone/>
            </a:pPr>
            <a:r>
              <a:rPr lang="en-US" sz="687" dirty="0">
                <a:solidFill>
                  <a:srgbClr val="7681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结果判定 → 测试报告</a:t>
            </a:r>
            <a:endParaRPr lang="en-US" sz="687" dirty="0"/>
          </a:p>
        </p:txBody>
      </p:sp>
      <p:sp>
        <p:nvSpPr>
          <p:cNvPr id="27" name="Text 24"/>
          <p:cNvSpPr/>
          <p:nvPr/>
        </p:nvSpPr>
        <p:spPr>
          <a:xfrm>
            <a:off x="9715212" y="4765374"/>
            <a:ext cx="2039588" cy="353864"/>
          </a:xfrm>
          <a:prstGeom prst="roundRect">
            <a:avLst>
              <a:gd name="adj" fmla="val 28572"/>
            </a:avLst>
          </a:prstGeom>
          <a:solidFill>
            <a:srgbClr val="F5F6F5"/>
          </a:solidFill>
          <a:ln w="6334">
            <a:solidFill>
              <a:srgbClr val="BCC5BE"/>
            </a:solidFill>
            <a:prstDash val="dash"/>
          </a:ln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713"/>
              </a:lnSpc>
              <a:buNone/>
            </a:pPr>
            <a:r>
              <a:rPr lang="en-US" sz="687" dirty="0">
                <a:solidFill>
                  <a:srgbClr val="7681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结果回传 / 资产</a:t>
            </a:r>
            <a:endParaRPr lang="en-US" sz="687" dirty="0"/>
          </a:p>
        </p:txBody>
      </p:sp>
      <p:sp>
        <p:nvSpPr>
          <p:cNvPr id="28" name="Shape 25"/>
          <p:cNvSpPr/>
          <p:nvPr/>
        </p:nvSpPr>
        <p:spPr>
          <a:xfrm>
            <a:off x="405384" y="5593176"/>
            <a:ext cx="114014" cy="76010"/>
          </a:xfrm>
          <a:prstGeom prst="roundRect">
            <a:avLst>
              <a:gd name="adj" fmla="val 25000"/>
            </a:avLst>
          </a:prstGeom>
          <a:solidFill>
            <a:srgbClr val="EAF5EC"/>
          </a:solidFill>
          <a:ln w="6334">
            <a:solidFill>
              <a:srgbClr val="478D54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63836" y="5536393"/>
            <a:ext cx="722090" cy="189570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712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期计划（当前项目）</a:t>
            </a:r>
            <a:endParaRPr lang="en-US" sz="712" dirty="0"/>
          </a:p>
        </p:txBody>
      </p:sp>
      <p:sp>
        <p:nvSpPr>
          <p:cNvPr id="30" name="Shape 27"/>
          <p:cNvSpPr/>
          <p:nvPr/>
        </p:nvSpPr>
        <p:spPr>
          <a:xfrm>
            <a:off x="1425376" y="5593176"/>
            <a:ext cx="114014" cy="76010"/>
          </a:xfrm>
          <a:prstGeom prst="roundRect">
            <a:avLst>
              <a:gd name="adj" fmla="val 25000"/>
            </a:avLst>
          </a:prstGeom>
          <a:solidFill>
            <a:srgbClr val="F5F6F5"/>
          </a:solidFill>
          <a:ln w="6334">
            <a:solidFill>
              <a:srgbClr val="BCC5BE"/>
            </a:solidFill>
            <a:prstDash val="dash"/>
          </a:ln>
        </p:spPr>
      </p:sp>
      <p:sp>
        <p:nvSpPr>
          <p:cNvPr id="31" name="Text 28"/>
          <p:cNvSpPr/>
          <p:nvPr/>
        </p:nvSpPr>
        <p:spPr>
          <a:xfrm>
            <a:off x="1583729" y="5536393"/>
            <a:ext cx="2103028" cy="1895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712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目标工作流（愿景 · 含接口分支 / 需求→测试设计 / 下发执行机）</a:t>
            </a:r>
            <a:endParaRPr lang="en-US" sz="712" dirty="0"/>
          </a:p>
        </p:txBody>
      </p:sp>
      <p:sp>
        <p:nvSpPr>
          <p:cNvPr id="32" name="Text 29"/>
          <p:cNvSpPr/>
          <p:nvPr/>
        </p:nvSpPr>
        <p:spPr>
          <a:xfrm>
            <a:off x="9103325" y="5536393"/>
            <a:ext cx="2653998" cy="189570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712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期以 Excel 用例导入替代「需求 + 测试设计」，打通「执行→评估→资产」闭环</a:t>
            </a:r>
            <a:endParaRPr lang="en-US" sz="712" dirty="0"/>
          </a:p>
        </p:txBody>
      </p:sp>
      <p:sp>
        <p:nvSpPr>
          <p:cNvPr id="33" name="Text 30"/>
          <p:cNvSpPr/>
          <p:nvPr/>
        </p:nvSpPr>
        <p:spPr>
          <a:xfrm>
            <a:off x="403850" y="6498000"/>
            <a:ext cx="1146477" cy="95012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687" dirty="0">
                <a:solidFill>
                  <a:srgbClr val="8A94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T-Agent 进展汇报 · 第 1 页 / 共 4 页</a:t>
            </a:r>
            <a:endParaRPr lang="en-US" sz="687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ns2="http://schemas.microsoft.com/office/powerpoint/2010/main" xmlns:ns4="http://schemas.microsoft.com/office/drawing/2016/SVG/main" xmlns:p="http://schemas.openxmlformats.org/presentationml/2006/main" xmlns:r="http://schemas.openxmlformats.org/officeDocument/2006/relationships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0040"/>
            <a:ext cx="12161520" cy="6217920"/>
          </a:xfrm>
          <a:prstGeom prst="rect">
            <a:avLst/>
          </a:prstGeom>
          <a:solidFill>
            <a:srgbClr val="EEF1EE"/>
          </a:solidFill>
          <a:ln/>
        </p:spPr>
      </p:sp>
      <p:sp>
        <p:nvSpPr>
          <p:cNvPr id="3" name="Text 1"/>
          <p:cNvSpPr/>
          <p:nvPr/>
        </p:nvSpPr>
        <p:spPr>
          <a:xfrm>
            <a:off x="405384" y="687680"/>
            <a:ext cx="11350752" cy="151851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875" b="1" spc="100" kern="0" dirty="0">
                <a:solidFill>
                  <a:srgbClr val="478D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调研与技术路线</a:t>
            </a:r>
            <a:endParaRPr lang="en-US" sz="875" dirty="0"/>
          </a:p>
        </p:txBody>
      </p:sp>
      <p:sp>
        <p:nvSpPr>
          <p:cNvPr id="4" name="Text 2"/>
          <p:cNvSpPr/>
          <p:nvPr/>
        </p:nvSpPr>
        <p:spPr>
          <a:xfrm>
            <a:off x="405384" y="871501"/>
            <a:ext cx="11350752" cy="319687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875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openclaw 试点效果 &amp; 路线选择</a:t>
            </a:r>
            <a:endParaRPr lang="en-US" sz="1875" dirty="0"/>
          </a:p>
        </p:txBody>
      </p:sp>
      <p:sp>
        <p:nvSpPr>
          <p:cNvPr id="5" name="Shape 3"/>
          <p:cNvSpPr/>
          <p:nvPr/>
        </p:nvSpPr>
        <p:spPr>
          <a:xfrm>
            <a:off x="405384" y="1287095"/>
            <a:ext cx="380048" cy="31969"/>
          </a:xfrm>
          <a:prstGeom prst="roundRect">
            <a:avLst>
              <a:gd name="adj" fmla="val 49999"/>
            </a:avLst>
          </a:prstGeom>
          <a:solidFill>
            <a:srgbClr val="478D54"/>
          </a:solidFill>
          <a:ln/>
        </p:spPr>
      </p:sp>
      <p:sp>
        <p:nvSpPr>
          <p:cNvPr id="6" name="Text 4"/>
          <p:cNvSpPr/>
          <p:nvPr/>
        </p:nvSpPr>
        <p:spPr>
          <a:xfrm>
            <a:off x="405384" y="1414970"/>
            <a:ext cx="11350752" cy="151851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spcBef>
                <a:spcPts val="599"/>
              </a:spcBef>
              <a:buNone/>
            </a:pPr>
            <a:r>
              <a:rPr lang="en-US" sz="875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openclaw 试点效果</a:t>
            </a:r>
            <a:endParaRPr lang="en-US" sz="875" dirty="0"/>
          </a:p>
        </p:txBody>
      </p:sp>
      <p:sp>
        <p:nvSpPr>
          <p:cNvPr id="7" name="Shape 5"/>
          <p:cNvSpPr/>
          <p:nvPr/>
        </p:nvSpPr>
        <p:spPr>
          <a:xfrm>
            <a:off x="405681" y="1630759"/>
            <a:ext cx="7499604" cy="1438594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6334">
            <a:solidFill>
              <a:srgbClr val="D9E2DC"/>
            </a:solidFill>
            <a:prstDash val="solid"/>
          </a:ln>
          <a:effectLst>
            <a:outerShdw sx="100000" sy="100000" kx="0" ky="0" algn="bl" rotWithShape="0" blurRad="63341" dist="12668" dir="5400000">
              <a:srgbClr val="284632">
                <a:alpha val="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38698" y="1782610"/>
            <a:ext cx="7233571" cy="127874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775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openclaw</a:t>
            </a:r>
            <a:pPr algn="l" indent="0" marL="0">
              <a:spcAft>
                <a:spcPts val="349"/>
              </a:spcAft>
              <a:buNone/>
            </a:pPr>
            <a:r>
              <a:rPr lang="en-US" sz="775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：开源「通用 AI 助手 Agent」（消息/语音/多 Agent 路由 + 浏览器集成），</a:t>
            </a:r>
            <a:pPr algn="l" indent="0" marL="0">
              <a:buNone/>
            </a:pPr>
            <a:r>
              <a:rPr lang="en-US" sz="775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本身不是测试工具</a:t>
            </a:r>
            <a:pPr algn="l" indent="0" marL="0">
              <a:spcAft>
                <a:spcPts val="349"/>
              </a:spcAft>
              <a:buNone/>
            </a:pPr>
            <a:r>
              <a:rPr lang="en-US" sz="775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 试点方式：用其浏览器能力直接跑 Web 自动化用例。</a:t>
            </a:r>
            <a:endParaRPr lang="en-US" sz="775" dirty="0"/>
          </a:p>
        </p:txBody>
      </p:sp>
      <p:sp>
        <p:nvSpPr>
          <p:cNvPr id="9" name="Text 7"/>
          <p:cNvSpPr/>
          <p:nvPr/>
        </p:nvSpPr>
        <p:spPr>
          <a:xfrm>
            <a:off x="538698" y="1966430"/>
            <a:ext cx="7233571" cy="151851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41"/>
              </a:lnSpc>
              <a:spcBef>
                <a:spcPts val="50"/>
              </a:spcBef>
              <a:buNone/>
            </a:pPr>
            <a:r>
              <a:rPr lang="en-US" sz="687" b="1" dirty="0">
                <a:solidFill>
                  <a:srgbClr val="FFFFFF"/>
                </a:solidFill>
                <a:highlight>
                  <a:srgbClr val="478D5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pPr algn="l" indent="0" marL="0">
              <a:lnSpc>
                <a:spcPts val="842"/>
              </a:lnSpc>
              <a:buNone/>
            </a:pPr>
            <a:r>
              <a:rPr lang="en-US" sz="775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简单流程能跑通——AI 可自主操作浏览器完成点击/输入</a:t>
            </a:r>
            <a:endParaRPr lang="en-US" sz="687" dirty="0"/>
          </a:p>
        </p:txBody>
      </p:sp>
      <p:sp>
        <p:nvSpPr>
          <p:cNvPr id="10" name="Text 8"/>
          <p:cNvSpPr/>
          <p:nvPr/>
        </p:nvSpPr>
        <p:spPr>
          <a:xfrm>
            <a:off x="538698" y="2166235"/>
            <a:ext cx="7233571" cy="151851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41"/>
              </a:lnSpc>
              <a:spcBef>
                <a:spcPts val="50"/>
              </a:spcBef>
              <a:buNone/>
            </a:pPr>
            <a:r>
              <a:rPr lang="en-US" sz="687" b="1" dirty="0">
                <a:solidFill>
                  <a:srgbClr val="FFFFFF"/>
                </a:solidFill>
                <a:highlight>
                  <a:srgbClr val="C47F1A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✕</a:t>
            </a:r>
            <a:pPr algn="l" indent="0" marL="0">
              <a:lnSpc>
                <a:spcPts val="842"/>
              </a:lnSpc>
              <a:buNone/>
            </a:pPr>
            <a:r>
              <a:rPr lang="en-US" sz="775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判定靠 AI 自述「我觉得成功了」——结果不稳、</a:t>
            </a:r>
            <a:pPr algn="l" indent="0" marL="0">
              <a:lnSpc>
                <a:spcPts val="842"/>
              </a:lnSpc>
              <a:buNone/>
            </a:pPr>
            <a:r>
              <a:rPr lang="en-US" sz="775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不可复现</a:t>
            </a:r>
            <a:endParaRPr lang="en-US" sz="687" dirty="0"/>
          </a:p>
        </p:txBody>
      </p:sp>
      <p:sp>
        <p:nvSpPr>
          <p:cNvPr id="11" name="Text 9"/>
          <p:cNvSpPr/>
          <p:nvPr/>
        </p:nvSpPr>
        <p:spPr>
          <a:xfrm>
            <a:off x="538698" y="2366039"/>
            <a:ext cx="7233571" cy="151851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41"/>
              </a:lnSpc>
              <a:spcBef>
                <a:spcPts val="50"/>
              </a:spcBef>
              <a:buNone/>
            </a:pPr>
            <a:r>
              <a:rPr lang="en-US" sz="687" b="1" dirty="0">
                <a:solidFill>
                  <a:srgbClr val="FFFFFF"/>
                </a:solidFill>
                <a:highlight>
                  <a:srgbClr val="C47F1A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✕</a:t>
            </a:r>
            <a:pPr algn="l" indent="0" marL="0">
              <a:lnSpc>
                <a:spcPts val="842"/>
              </a:lnSpc>
              <a:buNone/>
            </a:pPr>
            <a:r>
              <a:rPr lang="en-US" sz="775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一次性执行，</a:t>
            </a:r>
            <a:pPr algn="l" indent="0" marL="0">
              <a:lnSpc>
                <a:spcPts val="842"/>
              </a:lnSpc>
              <a:buNone/>
            </a:pPr>
            <a:r>
              <a:rPr lang="en-US" sz="775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不产出可维护测试代码</a:t>
            </a:r>
            <a:pPr algn="l" indent="0" marL="0">
              <a:lnSpc>
                <a:spcPts val="842"/>
              </a:lnSpc>
              <a:buNone/>
            </a:pPr>
            <a:r>
              <a:rPr lang="en-US" sz="775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，回归每次重烧算力</a:t>
            </a:r>
            <a:endParaRPr lang="en-US" sz="687" dirty="0"/>
          </a:p>
        </p:txBody>
      </p:sp>
      <p:sp>
        <p:nvSpPr>
          <p:cNvPr id="12" name="Text 10"/>
          <p:cNvSpPr/>
          <p:nvPr/>
        </p:nvSpPr>
        <p:spPr>
          <a:xfrm>
            <a:off x="538698" y="2565845"/>
            <a:ext cx="7233571" cy="151851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41"/>
              </a:lnSpc>
              <a:spcBef>
                <a:spcPts val="50"/>
              </a:spcBef>
              <a:buNone/>
            </a:pPr>
            <a:r>
              <a:rPr lang="en-US" sz="687" b="1" dirty="0">
                <a:solidFill>
                  <a:srgbClr val="FFFFFF"/>
                </a:solidFill>
                <a:highlight>
                  <a:srgbClr val="C47F1A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✕</a:t>
            </a:r>
            <a:pPr algn="l" indent="0" marL="0">
              <a:lnSpc>
                <a:spcPts val="842"/>
              </a:lnSpc>
              <a:buNone/>
            </a:pPr>
            <a:r>
              <a:rPr lang="en-US" sz="775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无断言 / 登录态复用 / 权限 / 调度等</a:t>
            </a:r>
            <a:pPr algn="l" indent="0" marL="0">
              <a:lnSpc>
                <a:spcPts val="842"/>
              </a:lnSpc>
              <a:buNone/>
            </a:pPr>
            <a:r>
              <a:rPr lang="en-US" sz="775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测试工程能力</a:t>
            </a:r>
            <a:endParaRPr lang="en-US" sz="687" dirty="0"/>
          </a:p>
        </p:txBody>
      </p:sp>
      <p:sp>
        <p:nvSpPr>
          <p:cNvPr id="13" name="Text 11"/>
          <p:cNvSpPr/>
          <p:nvPr/>
        </p:nvSpPr>
        <p:spPr>
          <a:xfrm>
            <a:off x="538698" y="2765649"/>
            <a:ext cx="7233571" cy="151851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41"/>
              </a:lnSpc>
              <a:spcBef>
                <a:spcPts val="50"/>
              </a:spcBef>
              <a:buNone/>
            </a:pPr>
            <a:r>
              <a:rPr lang="en-US" sz="687" b="1" dirty="0">
                <a:solidFill>
                  <a:srgbClr val="FFFFFF"/>
                </a:solidFill>
                <a:highlight>
                  <a:srgbClr val="C47F1A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✕</a:t>
            </a:r>
            <a:pPr algn="l" indent="0" marL="0">
              <a:lnSpc>
                <a:spcPts val="842"/>
              </a:lnSpc>
              <a:buNone/>
            </a:pPr>
            <a:r>
              <a:rPr lang="en-US" sz="775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Node/TS 个人助手架构，</a:t>
            </a:r>
            <a:pPr algn="l" indent="0" marL="0">
              <a:lnSpc>
                <a:spcPts val="842"/>
              </a:lnSpc>
              <a:buNone/>
            </a:pPr>
            <a:r>
              <a:rPr lang="en-US" sz="775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内网部署与合规裁剪成本高</a:t>
            </a:r>
            <a:endParaRPr lang="en-US" sz="687" dirty="0"/>
          </a:p>
        </p:txBody>
      </p:sp>
      <p:sp>
        <p:nvSpPr>
          <p:cNvPr id="14" name="Text 12"/>
          <p:cNvSpPr/>
          <p:nvPr/>
        </p:nvSpPr>
        <p:spPr>
          <a:xfrm>
            <a:off x="8019299" y="1630759"/>
            <a:ext cx="3737134" cy="1438594"/>
          </a:xfrm>
          <a:prstGeom prst="roundRect">
            <a:avLst>
              <a:gd name="adj" fmla="val 6667"/>
            </a:avLst>
          </a:prstGeom>
          <a:solidFill>
            <a:srgbClr val="FAFBFA"/>
          </a:solidFill>
          <a:ln w="12668">
            <a:solidFill>
              <a:srgbClr val="8A948E"/>
            </a:solidFill>
            <a:prstDash val="dash"/>
          </a:ln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812" dirty="0">
                <a:solidFill>
                  <a:srgbClr val="8A94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试点录屏（待插入）</a:t>
            </a:r>
            <a:endParaRPr lang="en-US" sz="812" dirty="0"/>
          </a:p>
        </p:txBody>
      </p:sp>
      <p:sp>
        <p:nvSpPr>
          <p:cNvPr id="15" name="Text 13"/>
          <p:cNvSpPr/>
          <p:nvPr/>
        </p:nvSpPr>
        <p:spPr>
          <a:xfrm>
            <a:off x="405384" y="3181242"/>
            <a:ext cx="11350752" cy="151851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spcBef>
                <a:spcPts val="698"/>
              </a:spcBef>
              <a:buNone/>
            </a:pPr>
            <a:r>
              <a:rPr lang="en-US" sz="875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基于 openclaw 二次开发　vs　自研 AI-Agent</a:t>
            </a:r>
            <a:endParaRPr lang="en-US" sz="875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405384" y="3389039"/>
          <a:ext cx="11350752" cy="1153759"/>
        </p:xfrm>
        <a:graphic>
          <a:graphicData uri="http://schemas.openxmlformats.org/drawingml/2006/table">
            <a:tbl>
              <a:tblPr/>
              <a:tblGrid>
                <a:gridCol w="1701603"/>
                <a:gridCol w="4878068"/>
                <a:gridCol w="4764747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highlight>
                            <a:srgbClr val="478D54"/>
                          </a:highlight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8D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highlight>
                            <a:srgbClr val="478D54"/>
                          </a:highlight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基于 openclaw 二次开发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8D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highlight>
                            <a:srgbClr val="478D54"/>
                          </a:highlight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自研 AI-Agent（T-Agent）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8D5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A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起步速度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A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快——复用现成 Agent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260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慢——执行/断言/codegen 从 0 搭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C47F1A"/>
                          </a:solidFill>
                          <a:highlight>
                            <a:srgbClr val="FDF6E6"/>
                          </a:highlight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架构契合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A24"/>
                          </a:solidFill>
                          <a:highlight>
                            <a:srgbClr val="FDF6E6"/>
                          </a:highlight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个人助手框架(消息/语音/多Agent)，与测试场景错配，二开=削足适履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A24"/>
                          </a:solidFill>
                          <a:highlight>
                            <a:srgbClr val="FDF6E6"/>
                          </a:highlight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为测试而生，架构对口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C47F1A"/>
                          </a:solidFill>
                          <a:highlight>
                            <a:srgbClr val="FDF6E6"/>
                          </a:highlight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结果判定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A24"/>
                          </a:solidFill>
                          <a:highlight>
                            <a:srgbClr val="FDF6E6"/>
                          </a:highlight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受其「AI 自述」范式约束，硬塞确定性断言层改造深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A24"/>
                          </a:solidFill>
                          <a:highlight>
                            <a:srgbClr val="FDF6E6"/>
                          </a:highlight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原生规则引擎确定性裁决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A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代码沉淀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260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无此概念，需大改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56B4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原生转译 pytest-bdd 可回放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A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可控 / 合规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260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依赖上游开源 + Node/TS 栈，内网合规裁剪难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56B4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完全自主 · Python 栈 · 内网 stdio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A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维护 / 演进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260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受上游路线牵制，定制易与上游冲突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56B4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自主演进，贴合内网业务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A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长期成本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2605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二开包袱 + 持续适配上游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56B4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一次自建、可控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010" marR="76010" marT="57007" marB="57007" anchor="t">
                    <a:lnL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34" cap="flat" cmpd="sng" algn="ctr">
                      <a:solidFill>
                        <a:srgbClr val="D9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405384" y="5666812"/>
            <a:ext cx="11350752" cy="359648"/>
          </a:xfrm>
          <a:prstGeom prst="roundRect">
            <a:avLst>
              <a:gd name="adj" fmla="val 26667"/>
            </a:avLst>
          </a:prstGeom>
          <a:solidFill>
            <a:srgbClr val="356B41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1047"/>
              </a:lnSpc>
              <a:spcBef>
                <a:spcPts val="599"/>
              </a:spcBef>
              <a:buNone/>
            </a:pPr>
            <a:r>
              <a:rPr lang="en-US" sz="87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openclaw 定位错配（个人助手 ≠ 测试平台）：二次开发是</a:t>
            </a:r>
            <a:pPr algn="l" indent="0" marL="0">
              <a:lnSpc>
                <a:spcPts val="1047"/>
              </a:lnSpc>
              <a:buNone/>
            </a:pPr>
            <a:r>
              <a:rPr lang="en-US" sz="875" b="1" dirty="0">
                <a:solidFill>
                  <a:srgbClr val="BFE7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在错的地基上盖楼</a:t>
            </a:r>
            <a:pPr algn="l" indent="0" marL="0">
              <a:lnSpc>
                <a:spcPts val="1047"/>
              </a:lnSpc>
              <a:spcBef>
                <a:spcPts val="599"/>
              </a:spcBef>
              <a:buNone/>
            </a:pPr>
            <a:r>
              <a:rPr lang="en-US" sz="87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，改造成本高且受制于人。 自研虽起步慢，但</a:t>
            </a:r>
            <a:pPr algn="l" indent="0" marL="0">
              <a:lnSpc>
                <a:spcPts val="1047"/>
              </a:lnSpc>
              <a:buNone/>
            </a:pPr>
            <a:r>
              <a:rPr lang="en-US" sz="875" b="1" dirty="0">
                <a:solidFill>
                  <a:srgbClr val="BFE7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架构对口、判定与资产沉淀可原生实现、内网可控</a:t>
            </a:r>
            <a:pPr algn="l" indent="0" marL="0">
              <a:lnSpc>
                <a:spcPts val="1047"/>
              </a:lnSpc>
              <a:spcBef>
                <a:spcPts val="599"/>
              </a:spcBef>
              <a:buNone/>
            </a:pPr>
            <a:r>
              <a:rPr lang="en-US" sz="87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pPr algn="l" indent="0" marL="0">
              <a:lnSpc>
                <a:spcPts val="1047"/>
              </a:lnSpc>
              <a:buNone/>
            </a:pPr>
            <a:r>
              <a:rPr lang="en-US" sz="87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选择自研</a:t>
            </a:r>
            <a:pPr algn="l" indent="0" marL="0">
              <a:lnSpc>
                <a:spcPts val="1047"/>
              </a:lnSpc>
              <a:spcBef>
                <a:spcPts val="599"/>
              </a:spcBef>
              <a:buNone/>
            </a:pPr>
            <a:r>
              <a:rPr lang="en-US" sz="87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875" dirty="0"/>
          </a:p>
        </p:txBody>
      </p:sp>
      <p:sp>
        <p:nvSpPr>
          <p:cNvPr id="18" name="Text 15"/>
          <p:cNvSpPr/>
          <p:nvPr/>
        </p:nvSpPr>
        <p:spPr>
          <a:xfrm>
            <a:off x="403850" y="6498000"/>
            <a:ext cx="1146477" cy="95012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687" dirty="0">
                <a:solidFill>
                  <a:srgbClr val="8A94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T-Agent 进展汇报 · 第 2 页 / 共 4 页</a:t>
            </a:r>
            <a:endParaRPr lang="en-US" sz="687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ns4:svgBlip r:embed="rId2"/>
              </a:ext>
            </a:extLst>
          </a:blip>
          <a:stretch>
            <a:fillRect/>
          </a:stretch>
        </p:blipFill>
        <p:spPr>
          <a:xfrm>
            <a:off x="405384" y="1430722"/>
            <a:ext cx="11350752" cy="120348"/>
          </a:xfrm>
          <a:prstGeom prst="rect">
            <a:avLst/>
          </a:prstGeom>
        </p:spPr>
      </p:pic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4:svgBlip r:embed="rId4"/>
              </a:ext>
            </a:extLst>
          </a:blip>
          <a:stretch>
            <a:fillRect/>
          </a:stretch>
        </p:blipFill>
        <p:spPr>
          <a:xfrm>
            <a:off x="405384" y="3196994"/>
            <a:ext cx="11350752" cy="1203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0040"/>
            <a:ext cx="12161520" cy="6217920"/>
          </a:xfrm>
          <a:prstGeom prst="rect">
            <a:avLst/>
          </a:prstGeom>
          <a:solidFill>
            <a:srgbClr val="EEF1EE"/>
          </a:solidFill>
          <a:ln/>
        </p:spPr>
      </p:sp>
      <p:sp>
        <p:nvSpPr>
          <p:cNvPr id="3" name="Text 1"/>
          <p:cNvSpPr/>
          <p:nvPr/>
        </p:nvSpPr>
        <p:spPr>
          <a:xfrm>
            <a:off x="405384" y="757089"/>
            <a:ext cx="11350752" cy="180642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875" b="1" spc="100" kern="0" dirty="0">
                <a:solidFill>
                  <a:srgbClr val="478D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自研方案</a:t>
            </a:r>
            <a:endParaRPr lang="en-US" sz="875" dirty="0"/>
          </a:p>
        </p:txBody>
      </p:sp>
      <p:sp>
        <p:nvSpPr>
          <p:cNvPr id="4" name="Text 2"/>
          <p:cNvSpPr/>
          <p:nvPr/>
        </p:nvSpPr>
        <p:spPr>
          <a:xfrm>
            <a:off x="405384" y="975762"/>
            <a:ext cx="11350752" cy="380300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875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执行工作流</a:t>
            </a:r>
            <a:endParaRPr lang="en-US" sz="1875" dirty="0"/>
          </a:p>
        </p:txBody>
      </p:sp>
      <p:sp>
        <p:nvSpPr>
          <p:cNvPr id="5" name="Shape 3"/>
          <p:cNvSpPr/>
          <p:nvPr/>
        </p:nvSpPr>
        <p:spPr>
          <a:xfrm>
            <a:off x="405384" y="1470152"/>
            <a:ext cx="380048" cy="38030"/>
          </a:xfrm>
          <a:prstGeom prst="roundRect">
            <a:avLst>
              <a:gd name="adj" fmla="val 49999"/>
            </a:avLst>
          </a:prstGeom>
          <a:solidFill>
            <a:srgbClr val="478D54"/>
          </a:solidFill>
          <a:ln/>
        </p:spPr>
      </p:sp>
      <p:sp>
        <p:nvSpPr>
          <p:cNvPr id="6" name="Text 4"/>
          <p:cNvSpPr/>
          <p:nvPr/>
        </p:nvSpPr>
        <p:spPr>
          <a:xfrm>
            <a:off x="405384" y="1696673"/>
            <a:ext cx="190024" cy="291370"/>
          </a:xfrm>
          <a:prstGeom prst="roundRect">
            <a:avLst>
              <a:gd name="adj" fmla="val 26667"/>
            </a:avLst>
          </a:prstGeom>
          <a:solidFill>
            <a:srgbClr val="478D54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812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12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ns3:svgBlip r:embed="rId2"/>
              </a:ext>
            </a:extLst>
          </a:blip>
          <a:stretch>
            <a:fillRect/>
          </a:stretch>
        </p:blipFill>
        <p:spPr>
          <a:xfrm>
            <a:off x="595556" y="1696673"/>
            <a:ext cx="7379256" cy="29137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65232" y="1688826"/>
            <a:ext cx="7233571" cy="161627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用例输入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665232" y="1861373"/>
            <a:ext cx="7233571" cy="133105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13"/>
              </a:lnSpc>
              <a:spcBef>
                <a:spcPts val="50"/>
              </a:spcBef>
              <a:buNone/>
            </a:pPr>
            <a:r>
              <a:rPr lang="en-US" sz="687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 完整用例导入 → 统一 TestCase　</a:t>
            </a:r>
            <a:pPr algn="l" indent="0" marL="0">
              <a:lnSpc>
                <a:spcPts val="648"/>
              </a:lnSpc>
              <a:buNone/>
            </a:pPr>
            <a:r>
              <a:rPr lang="en-US" sz="625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工程化：前端上传→API→SQLModel 落库</a:t>
            </a:r>
            <a:endParaRPr lang="en-US" sz="687" dirty="0"/>
          </a:p>
        </p:txBody>
      </p:sp>
      <p:sp>
        <p:nvSpPr>
          <p:cNvPr id="10" name="Text 7"/>
          <p:cNvSpPr/>
          <p:nvPr/>
        </p:nvSpPr>
        <p:spPr>
          <a:xfrm>
            <a:off x="405384" y="2203394"/>
            <a:ext cx="190024" cy="291370"/>
          </a:xfrm>
          <a:prstGeom prst="roundRect">
            <a:avLst>
              <a:gd name="adj" fmla="val 26667"/>
            </a:avLst>
          </a:prstGeom>
          <a:solidFill>
            <a:srgbClr val="478D54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812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12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3:svgBlip r:embed="rId4"/>
              </a:ext>
            </a:extLst>
          </a:blip>
          <a:stretch>
            <a:fillRect/>
          </a:stretch>
        </p:blipFill>
        <p:spPr>
          <a:xfrm>
            <a:off x="595556" y="2203394"/>
            <a:ext cx="7379256" cy="29137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65232" y="2195547"/>
            <a:ext cx="7233571" cy="161627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用例预解析（AI 翻译 · 人工可审）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665232" y="2368094"/>
            <a:ext cx="7233571" cy="133105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13"/>
              </a:lnSpc>
              <a:spcBef>
                <a:spcPts val="50"/>
              </a:spcBef>
              <a:buNone/>
            </a:pPr>
            <a:r>
              <a:rPr lang="en-US" sz="687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①预置条件三分类 ②TestSpec 生成(自然语言→结构化规格+断言) ③词汇表增强 </a:t>
            </a:r>
            <a:pPr algn="l" indent="0" marL="0">
              <a:lnSpc>
                <a:spcPts val="648"/>
              </a:lnSpc>
              <a:buNone/>
            </a:pPr>
            <a:r>
              <a:rPr lang="en-US" sz="625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[precondition / pre_analysis / intelligence]</a:t>
            </a:r>
            <a:endParaRPr lang="en-US" sz="687" dirty="0"/>
          </a:p>
        </p:txBody>
      </p:sp>
      <p:sp>
        <p:nvSpPr>
          <p:cNvPr id="14" name="Text 10"/>
          <p:cNvSpPr/>
          <p:nvPr/>
        </p:nvSpPr>
        <p:spPr>
          <a:xfrm>
            <a:off x="405384" y="2710116"/>
            <a:ext cx="190024" cy="291370"/>
          </a:xfrm>
          <a:prstGeom prst="roundRect">
            <a:avLst>
              <a:gd name="adj" fmla="val 26667"/>
            </a:avLst>
          </a:prstGeom>
          <a:solidFill>
            <a:srgbClr val="478D54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812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12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r:embed="rId6"/>
              </a:ext>
            </a:extLst>
          </a:blip>
          <a:stretch>
            <a:fillRect/>
          </a:stretch>
        </p:blipFill>
        <p:spPr>
          <a:xfrm>
            <a:off x="595556" y="2710116"/>
            <a:ext cx="7379256" cy="29137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65232" y="2702268"/>
            <a:ext cx="7233571" cy="161627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执行准备</a:t>
            </a:r>
            <a:endParaRPr lang="en-US" sz="800" dirty="0"/>
          </a:p>
        </p:txBody>
      </p:sp>
      <p:sp>
        <p:nvSpPr>
          <p:cNvPr id="17" name="Text 12"/>
          <p:cNvSpPr/>
          <p:nvPr/>
        </p:nvSpPr>
        <p:spPr>
          <a:xfrm>
            <a:off x="665232" y="2874815"/>
            <a:ext cx="7233571" cy="133105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13"/>
              </a:lnSpc>
              <a:spcBef>
                <a:spcPts val="50"/>
              </a:spcBef>
              <a:buNone/>
            </a:pPr>
            <a:r>
              <a:rPr lang="en-US" sz="687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注入 Cookie 复用登录态 · 注入业务 Skill · 启动 playwright-mcp(stdio 内网友好) </a:t>
            </a:r>
            <a:pPr algn="l" indent="0" marL="0">
              <a:lnSpc>
                <a:spcPts val="648"/>
              </a:lnSpc>
              <a:buNone/>
            </a:pPr>
            <a:r>
              <a:rPr lang="en-US" sz="625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[session / skills / mcp_client]</a:t>
            </a:r>
            <a:endParaRPr lang="en-US" sz="687" dirty="0"/>
          </a:p>
        </p:txBody>
      </p:sp>
      <p:sp>
        <p:nvSpPr>
          <p:cNvPr id="18" name="Text 13"/>
          <p:cNvSpPr/>
          <p:nvPr/>
        </p:nvSpPr>
        <p:spPr>
          <a:xfrm>
            <a:off x="405384" y="3216837"/>
            <a:ext cx="190024" cy="291370"/>
          </a:xfrm>
          <a:prstGeom prst="roundRect">
            <a:avLst>
              <a:gd name="adj" fmla="val 26667"/>
            </a:avLst>
          </a:prstGeom>
          <a:solidFill>
            <a:srgbClr val="478D54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812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12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3:svgBlip r:embed="rId8"/>
              </a:ext>
            </a:extLst>
          </a:blip>
          <a:stretch>
            <a:fillRect/>
          </a:stretch>
        </p:blipFill>
        <p:spPr>
          <a:xfrm>
            <a:off x="595556" y="3216837"/>
            <a:ext cx="7379256" cy="29137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65232" y="3208989"/>
            <a:ext cx="7233571" cy="161627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ReAct 自动化执行循环（逐步）</a:t>
            </a:r>
            <a:endParaRPr lang="en-US" sz="800" dirty="0"/>
          </a:p>
        </p:txBody>
      </p:sp>
      <p:sp>
        <p:nvSpPr>
          <p:cNvPr id="21" name="Text 15"/>
          <p:cNvSpPr/>
          <p:nvPr/>
        </p:nvSpPr>
        <p:spPr>
          <a:xfrm>
            <a:off x="665232" y="3381536"/>
            <a:ext cx="7233571" cy="133105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13"/>
              </a:lnSpc>
              <a:spcBef>
                <a:spcPts val="50"/>
              </a:spcBef>
              <a:buNone/>
            </a:pPr>
            <a:r>
              <a:rPr lang="en-US" sz="687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分层Prompt→LLM(tool_call容错)→权限校验→执行浏览器动作→抓A11y快照+截图；上下文压缩控token；护栏:循环检测/哑火续推/最大步数；每步实时 SSE 推送 </a:t>
            </a:r>
            <a:pPr algn="l" indent="0" marL="0">
              <a:lnSpc>
                <a:spcPts val="648"/>
              </a:lnSpc>
              <a:buNone/>
            </a:pPr>
            <a:r>
              <a:rPr lang="en-US" sz="625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[react_loop / prompt / llm / permission / page_probe]</a:t>
            </a:r>
            <a:endParaRPr lang="en-US" sz="687" dirty="0"/>
          </a:p>
        </p:txBody>
      </p:sp>
      <p:sp>
        <p:nvSpPr>
          <p:cNvPr id="22" name="Text 16"/>
          <p:cNvSpPr/>
          <p:nvPr/>
        </p:nvSpPr>
        <p:spPr>
          <a:xfrm>
            <a:off x="405384" y="3723558"/>
            <a:ext cx="190024" cy="291370"/>
          </a:xfrm>
          <a:prstGeom prst="roundRect">
            <a:avLst>
              <a:gd name="adj" fmla="val 26667"/>
            </a:avLst>
          </a:prstGeom>
          <a:solidFill>
            <a:srgbClr val="478D54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812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↘</a:t>
            </a:r>
            <a:endParaRPr lang="en-US" sz="812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ns3:svgBlip r:embed="rId10"/>
              </a:ext>
            </a:extLst>
          </a:blip>
          <a:stretch>
            <a:fillRect/>
          </a:stretch>
        </p:blipFill>
        <p:spPr>
          <a:xfrm>
            <a:off x="595556" y="3723558"/>
            <a:ext cx="7379256" cy="29137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665133" y="3717122"/>
            <a:ext cx="3585115" cy="304240"/>
          </a:xfrm>
          <a:prstGeom prst="rect">
            <a:avLst/>
          </a:prstGeom>
          <a:ln/>
        </p:spPr>
      </p:sp>
      <p:sp>
        <p:nvSpPr>
          <p:cNvPr id="25" name="Text 18"/>
          <p:cNvSpPr/>
          <p:nvPr/>
        </p:nvSpPr>
        <p:spPr>
          <a:xfrm>
            <a:off x="734808" y="3715710"/>
            <a:ext cx="3515439" cy="161627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47F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动作报错 / 元素找不到 → AI 自愈</a:t>
            </a:r>
            <a:endParaRPr lang="en-US" sz="800" dirty="0"/>
          </a:p>
        </p:txBody>
      </p:sp>
      <p:sp>
        <p:nvSpPr>
          <p:cNvPr id="26" name="Text 19"/>
          <p:cNvSpPr/>
          <p:nvPr/>
        </p:nvSpPr>
        <p:spPr>
          <a:xfrm>
            <a:off x="734808" y="3888258"/>
            <a:ext cx="3515439" cy="133105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13"/>
              </a:lnSpc>
              <a:spcBef>
                <a:spcPts val="50"/>
              </a:spcBef>
              <a:buNone/>
            </a:pPr>
            <a:r>
              <a:rPr lang="en-US" sz="687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工具问题→重定位回灌继续 · 业务问题→标记失败 </a:t>
            </a:r>
            <a:pPr algn="l" indent="0" marL="0">
              <a:lnSpc>
                <a:spcPts val="648"/>
              </a:lnSpc>
              <a:buNone/>
            </a:pPr>
            <a:r>
              <a:rPr lang="en-US" sz="625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[healing]</a:t>
            </a:r>
            <a:endParaRPr lang="en-US" sz="687" dirty="0"/>
          </a:p>
        </p:txBody>
      </p:sp>
      <p:sp>
        <p:nvSpPr>
          <p:cNvPr id="27" name="Shape 20"/>
          <p:cNvSpPr/>
          <p:nvPr/>
        </p:nvSpPr>
        <p:spPr>
          <a:xfrm>
            <a:off x="4313737" y="3717122"/>
            <a:ext cx="3585115" cy="304240"/>
          </a:xfrm>
          <a:prstGeom prst="rect">
            <a:avLst/>
          </a:prstGeom>
          <a:ln/>
        </p:spPr>
      </p:sp>
      <p:sp>
        <p:nvSpPr>
          <p:cNvPr id="28" name="Text 21"/>
          <p:cNvSpPr/>
          <p:nvPr/>
        </p:nvSpPr>
        <p:spPr>
          <a:xfrm>
            <a:off x="4383412" y="3715710"/>
            <a:ext cx="3515439" cy="161627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步骤正常完成</a:t>
            </a:r>
            <a:endParaRPr lang="en-US" sz="800" dirty="0"/>
          </a:p>
        </p:txBody>
      </p:sp>
      <p:sp>
        <p:nvSpPr>
          <p:cNvPr id="29" name="Text 22"/>
          <p:cNvSpPr/>
          <p:nvPr/>
        </p:nvSpPr>
        <p:spPr>
          <a:xfrm>
            <a:off x="4383412" y="3888258"/>
            <a:ext cx="3515439" cy="133105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13"/>
              </a:lnSpc>
              <a:spcBef>
                <a:spcPts val="50"/>
              </a:spcBef>
              <a:buNone/>
            </a:pPr>
            <a:r>
              <a:rPr lang="en-US" sz="687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mark_step_done → 进入断言</a:t>
            </a:r>
            <a:endParaRPr lang="en-US" sz="687" dirty="0"/>
          </a:p>
        </p:txBody>
      </p:sp>
      <p:sp>
        <p:nvSpPr>
          <p:cNvPr id="30" name="Text 23"/>
          <p:cNvSpPr/>
          <p:nvPr/>
        </p:nvSpPr>
        <p:spPr>
          <a:xfrm>
            <a:off x="405384" y="4230279"/>
            <a:ext cx="190024" cy="291370"/>
          </a:xfrm>
          <a:prstGeom prst="roundRect">
            <a:avLst>
              <a:gd name="adj" fmla="val 26667"/>
            </a:avLst>
          </a:prstGeom>
          <a:solidFill>
            <a:srgbClr val="C47F1A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812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4★</a:t>
            </a:r>
            <a:endParaRPr lang="en-US" sz="812" dirty="0"/>
          </a:p>
        </p:txBody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ns3:svgBlip r:embed="rId12"/>
              </a:ext>
            </a:extLst>
          </a:blip>
          <a:stretch>
            <a:fillRect/>
          </a:stretch>
        </p:blipFill>
        <p:spPr>
          <a:xfrm>
            <a:off x="595556" y="4230279"/>
            <a:ext cx="7379256" cy="29137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65232" y="4222433"/>
            <a:ext cx="7233571" cy="161627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确定性断言验证（规则引擎，非 AI 眼判）</a:t>
            </a:r>
            <a:endParaRPr lang="en-US" sz="800" dirty="0"/>
          </a:p>
        </p:txBody>
      </p:sp>
      <p:sp>
        <p:nvSpPr>
          <p:cNvPr id="33" name="Text 25"/>
          <p:cNvSpPr/>
          <p:nvPr/>
        </p:nvSpPr>
        <p:spPr>
          <a:xfrm>
            <a:off x="665232" y="4394979"/>
            <a:ext cx="7233571" cy="133105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13"/>
              </a:lnSpc>
              <a:spcBef>
                <a:spcPts val="50"/>
              </a:spcBef>
              <a:buNone/>
            </a:pPr>
            <a:r>
              <a:rPr lang="en-US" sz="687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DOM/文本/URL/数据(custom_tool)确定性比较；找不到→重定位复验；任一 FAIL 即不通过（不取 AI 自报） </a:t>
            </a:r>
            <a:pPr algn="l" indent="0" marL="0">
              <a:lnSpc>
                <a:spcPts val="648"/>
              </a:lnSpc>
              <a:buNone/>
            </a:pPr>
            <a:r>
              <a:rPr lang="en-US" sz="625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[assertion]</a:t>
            </a:r>
            <a:endParaRPr lang="en-US" sz="687" dirty="0"/>
          </a:p>
        </p:txBody>
      </p:sp>
      <p:sp>
        <p:nvSpPr>
          <p:cNvPr id="34" name="Text 26"/>
          <p:cNvSpPr/>
          <p:nvPr/>
        </p:nvSpPr>
        <p:spPr>
          <a:xfrm>
            <a:off x="405384" y="4737000"/>
            <a:ext cx="190024" cy="291370"/>
          </a:xfrm>
          <a:prstGeom prst="roundRect">
            <a:avLst>
              <a:gd name="adj" fmla="val 26667"/>
            </a:avLst>
          </a:prstGeom>
          <a:solidFill>
            <a:srgbClr val="478D54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812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12" dirty="0"/>
          </a:p>
        </p:txBody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ns3:svgBlip r:embed="rId14"/>
              </a:ext>
            </a:extLst>
          </a:blip>
          <a:stretch>
            <a:fillRect/>
          </a:stretch>
        </p:blipFill>
        <p:spPr>
          <a:xfrm>
            <a:off x="595556" y="4737000"/>
            <a:ext cx="7379256" cy="291370"/>
          </a:xfrm>
          <a:prstGeom prst="rect">
            <a:avLst/>
          </a:prstGeom>
        </p:spPr>
      </p:pic>
      <p:sp>
        <p:nvSpPr>
          <p:cNvPr id="36" name="Shape 27"/>
          <p:cNvSpPr/>
          <p:nvPr/>
        </p:nvSpPr>
        <p:spPr>
          <a:xfrm>
            <a:off x="665133" y="4730565"/>
            <a:ext cx="3585115" cy="304240"/>
          </a:xfrm>
          <a:prstGeom prst="rect">
            <a:avLst/>
          </a:prstGeom>
          <a:ln/>
        </p:spPr>
      </p:sp>
      <p:sp>
        <p:nvSpPr>
          <p:cNvPr id="37" name="Text 28"/>
          <p:cNvSpPr/>
          <p:nvPr/>
        </p:nvSpPr>
        <p:spPr>
          <a:xfrm>
            <a:off x="734808" y="4729154"/>
            <a:ext cx="3515439" cy="161627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 → 转译代码生成</a:t>
            </a:r>
            <a:endParaRPr lang="en-US" sz="800" dirty="0"/>
          </a:p>
        </p:txBody>
      </p:sp>
      <p:sp>
        <p:nvSpPr>
          <p:cNvPr id="38" name="Text 29"/>
          <p:cNvSpPr/>
          <p:nvPr/>
        </p:nvSpPr>
        <p:spPr>
          <a:xfrm>
            <a:off x="734808" y="4901700"/>
            <a:ext cx="3515439" cy="133105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13"/>
              </a:lnSpc>
              <a:spcBef>
                <a:spcPts val="50"/>
              </a:spcBef>
              <a:buNone/>
            </a:pPr>
            <a:r>
              <a:rPr lang="en-US" sz="687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执行轨迹→稳健定位器→pytest-bdd Playwright 落盘可回放 + 词汇表回写 </a:t>
            </a:r>
            <a:pPr algn="l" indent="0" marL="0">
              <a:lnSpc>
                <a:spcPts val="648"/>
              </a:lnSpc>
              <a:buNone/>
            </a:pPr>
            <a:r>
              <a:rPr lang="en-US" sz="625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[codegen]</a:t>
            </a:r>
            <a:endParaRPr lang="en-US" sz="687" dirty="0"/>
          </a:p>
        </p:txBody>
      </p:sp>
      <p:sp>
        <p:nvSpPr>
          <p:cNvPr id="39" name="Shape 30"/>
          <p:cNvSpPr/>
          <p:nvPr/>
        </p:nvSpPr>
        <p:spPr>
          <a:xfrm>
            <a:off x="4313737" y="4730565"/>
            <a:ext cx="3585115" cy="304240"/>
          </a:xfrm>
          <a:prstGeom prst="rect">
            <a:avLst/>
          </a:prstGeom>
          <a:ln/>
        </p:spPr>
      </p:sp>
      <p:sp>
        <p:nvSpPr>
          <p:cNvPr id="40" name="Text 31"/>
          <p:cNvSpPr/>
          <p:nvPr/>
        </p:nvSpPr>
        <p:spPr>
          <a:xfrm>
            <a:off x="4383412" y="4729154"/>
            <a:ext cx="3515439" cy="161627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47F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 → 失败留痕</a:t>
            </a:r>
            <a:endParaRPr lang="en-US" sz="800" dirty="0"/>
          </a:p>
        </p:txBody>
      </p:sp>
      <p:sp>
        <p:nvSpPr>
          <p:cNvPr id="41" name="Text 32"/>
          <p:cNvSpPr/>
          <p:nvPr/>
        </p:nvSpPr>
        <p:spPr>
          <a:xfrm>
            <a:off x="4383412" y="4901700"/>
            <a:ext cx="3515439" cy="133105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13"/>
              </a:lnSpc>
              <a:spcBef>
                <a:spcPts val="50"/>
              </a:spcBef>
              <a:buNone/>
            </a:pPr>
            <a:r>
              <a:rPr lang="en-US" sz="687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断言差异+截图+prompt+自愈过程</a:t>
            </a:r>
            <a:endParaRPr lang="en-US" sz="687" dirty="0"/>
          </a:p>
        </p:txBody>
      </p:sp>
      <p:sp>
        <p:nvSpPr>
          <p:cNvPr id="42" name="Text 33"/>
          <p:cNvSpPr/>
          <p:nvPr/>
        </p:nvSpPr>
        <p:spPr>
          <a:xfrm>
            <a:off x="405384" y="5243721"/>
            <a:ext cx="190024" cy="291370"/>
          </a:xfrm>
          <a:prstGeom prst="roundRect">
            <a:avLst>
              <a:gd name="adj" fmla="val 26667"/>
            </a:avLst>
          </a:prstGeom>
          <a:solidFill>
            <a:srgbClr val="478D54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812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12" dirty="0"/>
          </a:p>
        </p:txBody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ns3:svgBlip r:embed="rId16"/>
              </a:ext>
            </a:extLst>
          </a:blip>
          <a:stretch>
            <a:fillRect/>
          </a:stretch>
        </p:blipFill>
        <p:spPr>
          <a:xfrm>
            <a:off x="595556" y="5243721"/>
            <a:ext cx="7379256" cy="291370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665232" y="5235875"/>
            <a:ext cx="7233571" cy="161627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结果报告 + 资产沉淀</a:t>
            </a:r>
            <a:endParaRPr lang="en-US" sz="800" dirty="0"/>
          </a:p>
        </p:txBody>
      </p:sp>
      <p:sp>
        <p:nvSpPr>
          <p:cNvPr id="45" name="Text 35"/>
          <p:cNvSpPr/>
          <p:nvPr/>
        </p:nvSpPr>
        <p:spPr>
          <a:xfrm>
            <a:off x="665232" y="5408421"/>
            <a:ext cx="7233571" cy="133105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13"/>
              </a:lnSpc>
              <a:spcBef>
                <a:spcPts val="50"/>
              </a:spcBef>
              <a:buNone/>
            </a:pPr>
            <a:r>
              <a:rPr lang="en-US" sz="687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抓 Cookie 落盘供复用 · 执行记录全留痕 · SQLModel 持久化 + SSE + 前端结果抽屉可视化 </a:t>
            </a:r>
            <a:pPr algn="l" indent="0" marL="0">
              <a:lnSpc>
                <a:spcPts val="648"/>
              </a:lnSpc>
              <a:buNone/>
            </a:pPr>
            <a:r>
              <a:rPr lang="en-US" sz="625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[recorder / session]</a:t>
            </a:r>
            <a:endParaRPr lang="en-US" sz="687" dirty="0"/>
          </a:p>
        </p:txBody>
      </p:sp>
      <p:sp>
        <p:nvSpPr>
          <p:cNvPr id="46" name="Text 36"/>
          <p:cNvSpPr/>
          <p:nvPr/>
        </p:nvSpPr>
        <p:spPr>
          <a:xfrm>
            <a:off x="405532" y="5674557"/>
            <a:ext cx="7569279" cy="256702"/>
          </a:xfrm>
          <a:prstGeom prst="roundRect">
            <a:avLst>
              <a:gd name="adj" fmla="val 29630"/>
            </a:avLst>
          </a:prstGeom>
          <a:solidFill>
            <a:srgbClr val="1F2A24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33"/>
              </a:lnSpc>
              <a:buNone/>
            </a:pPr>
            <a:r>
              <a:rPr lang="en-US" sz="650" b="1" dirty="0">
                <a:solidFill>
                  <a:srgbClr val="D8E6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Suite 批量层：</a:t>
            </a:r>
            <a:pPr algn="l" indent="0" marL="0">
              <a:lnSpc>
                <a:spcPts val="733"/>
              </a:lnSpc>
              <a:buNone/>
            </a:pPr>
            <a:r>
              <a:rPr lang="en-US" sz="650" dirty="0">
                <a:solidFill>
                  <a:srgbClr val="D8E6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orchestrator 并发调度 + 用例间隔离｜execution_worker 每 run 独立线程/事件循环/存储（根治执行期 API 卡顿）</a:t>
            </a:r>
            <a:endParaRPr lang="en-US" sz="650" dirty="0"/>
          </a:p>
        </p:txBody>
      </p:sp>
      <p:sp>
        <p:nvSpPr>
          <p:cNvPr id="47" name="Text 37"/>
          <p:cNvSpPr/>
          <p:nvPr/>
        </p:nvSpPr>
        <p:spPr>
          <a:xfrm>
            <a:off x="8063490" y="1622273"/>
            <a:ext cx="3692795" cy="161627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812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工程化优点 · 可用 / 可管 / 可沉淀</a:t>
            </a:r>
            <a:endParaRPr lang="en-US" sz="812" dirty="0"/>
          </a:p>
        </p:txBody>
      </p:sp>
      <p:sp>
        <p:nvSpPr>
          <p:cNvPr id="48" name="Shape 38"/>
          <p:cNvSpPr/>
          <p:nvPr/>
        </p:nvSpPr>
        <p:spPr>
          <a:xfrm>
            <a:off x="8063490" y="1878234"/>
            <a:ext cx="3692795" cy="494391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/>
        </p:spPr>
      </p:sp>
      <p:sp>
        <p:nvSpPr>
          <p:cNvPr id="49" name="Text 39"/>
          <p:cNvSpPr/>
          <p:nvPr/>
        </p:nvSpPr>
        <p:spPr>
          <a:xfrm>
            <a:off x="8164836" y="1964544"/>
            <a:ext cx="3509105" cy="152120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775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登录态复用 </a:t>
            </a:r>
            <a:pPr algn="l" indent="0" marL="0">
              <a:buNone/>
            </a:pPr>
            <a:r>
              <a:rPr lang="en-US" sz="587" b="1" dirty="0">
                <a:solidFill>
                  <a:srgbClr val="FFFFFF"/>
                </a:solidFill>
                <a:highlight>
                  <a:srgbClr val="478D5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2 · 6</a:t>
            </a:r>
            <a:endParaRPr lang="en-US" sz="775" dirty="0"/>
          </a:p>
        </p:txBody>
      </p:sp>
      <p:sp>
        <p:nvSpPr>
          <p:cNvPr id="50" name="Text 40"/>
          <p:cNvSpPr/>
          <p:nvPr/>
        </p:nvSpPr>
        <p:spPr>
          <a:xfrm>
            <a:off x="8164836" y="2144444"/>
            <a:ext cx="3509105" cy="142613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41"/>
              </a:lnSpc>
              <a:spcBef>
                <a:spcPts val="150"/>
              </a:spcBef>
              <a:buNone/>
            </a:pPr>
            <a:r>
              <a:rPr lang="en-US" sz="687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Cookie 跨用例复用，免重复登录；实测步数 </a:t>
            </a:r>
            <a:pPr algn="l" indent="0" marL="0">
              <a:lnSpc>
                <a:spcPts val="741"/>
              </a:lnSpc>
              <a:buNone/>
            </a:pPr>
            <a:r>
              <a:rPr lang="en-US" sz="687" b="1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7→3</a:t>
            </a:r>
            <a:pPr algn="l" indent="0" marL="0">
              <a:lnSpc>
                <a:spcPts val="741"/>
              </a:lnSpc>
              <a:spcBef>
                <a:spcPts val="150"/>
              </a:spcBef>
              <a:buNone/>
            </a:pPr>
            <a:r>
              <a:rPr lang="en-US" sz="687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687" dirty="0"/>
          </a:p>
        </p:txBody>
      </p:sp>
      <p:sp>
        <p:nvSpPr>
          <p:cNvPr id="51" name="Shape 41"/>
          <p:cNvSpPr/>
          <p:nvPr/>
        </p:nvSpPr>
        <p:spPr>
          <a:xfrm>
            <a:off x="8063490" y="2466214"/>
            <a:ext cx="3692795" cy="494391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/>
        </p:spPr>
      </p:sp>
      <p:sp>
        <p:nvSpPr>
          <p:cNvPr id="52" name="Text 42"/>
          <p:cNvSpPr/>
          <p:nvPr/>
        </p:nvSpPr>
        <p:spPr>
          <a:xfrm>
            <a:off x="8164836" y="2552525"/>
            <a:ext cx="3509105" cy="152120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775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项目初始化 AW 复用 </a:t>
            </a:r>
            <a:pPr algn="l" indent="0" marL="0">
              <a:buNone/>
            </a:pPr>
            <a:r>
              <a:rPr lang="en-US" sz="587" b="1" dirty="0">
                <a:solidFill>
                  <a:srgbClr val="FFFFFF"/>
                </a:solidFill>
                <a:highlight>
                  <a:srgbClr val="478D5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2</a:t>
            </a:r>
            <a:endParaRPr lang="en-US" sz="775" dirty="0"/>
          </a:p>
        </p:txBody>
      </p:sp>
      <p:sp>
        <p:nvSpPr>
          <p:cNvPr id="53" name="Text 43"/>
          <p:cNvSpPr/>
          <p:nvPr/>
        </p:nvSpPr>
        <p:spPr>
          <a:xfrm>
            <a:off x="8164836" y="2732424"/>
            <a:ext cx="3509105" cy="142613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41"/>
              </a:lnSpc>
              <a:spcBef>
                <a:spcPts val="150"/>
              </a:spcBef>
              <a:buNone/>
            </a:pPr>
            <a:r>
              <a:rPr lang="en-US" sz="687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登录/前置 action-word 经 Hook </a:t>
            </a:r>
            <a:pPr algn="l" indent="0" marL="0">
              <a:lnSpc>
                <a:spcPts val="741"/>
              </a:lnSpc>
              <a:buNone/>
            </a:pPr>
            <a:r>
              <a:rPr lang="en-US" sz="687" b="1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跨用例·套件共享</a:t>
            </a:r>
            <a:pPr algn="l" indent="0" marL="0">
              <a:lnSpc>
                <a:spcPts val="741"/>
              </a:lnSpc>
              <a:spcBef>
                <a:spcPts val="150"/>
              </a:spcBef>
              <a:buNone/>
            </a:pPr>
            <a:r>
              <a:rPr lang="en-US" sz="687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，一处定义处处复用。</a:t>
            </a:r>
            <a:endParaRPr lang="en-US" sz="687" dirty="0"/>
          </a:p>
        </p:txBody>
      </p:sp>
      <p:sp>
        <p:nvSpPr>
          <p:cNvPr id="54" name="Shape 44"/>
          <p:cNvSpPr/>
          <p:nvPr/>
        </p:nvSpPr>
        <p:spPr>
          <a:xfrm>
            <a:off x="8063490" y="3054195"/>
            <a:ext cx="3692795" cy="494391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/>
        </p:spPr>
      </p:sp>
      <p:sp>
        <p:nvSpPr>
          <p:cNvPr id="55" name="Text 45"/>
          <p:cNvSpPr/>
          <p:nvPr/>
        </p:nvSpPr>
        <p:spPr>
          <a:xfrm>
            <a:off x="8164836" y="3140506"/>
            <a:ext cx="3509105" cy="152120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775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自定义工具加载 </a:t>
            </a:r>
            <a:pPr algn="l" indent="0" marL="0">
              <a:buNone/>
            </a:pPr>
            <a:r>
              <a:rPr lang="en-US" sz="587" b="1" dirty="0">
                <a:solidFill>
                  <a:srgbClr val="FFFFFF"/>
                </a:solidFill>
                <a:highlight>
                  <a:srgbClr val="478D5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3 · 4</a:t>
            </a:r>
            <a:endParaRPr lang="en-US" sz="775" dirty="0"/>
          </a:p>
        </p:txBody>
      </p:sp>
      <p:sp>
        <p:nvSpPr>
          <p:cNvPr id="56" name="Text 46"/>
          <p:cNvSpPr/>
          <p:nvPr/>
        </p:nvSpPr>
        <p:spPr>
          <a:xfrm>
            <a:off x="8164836" y="3320405"/>
            <a:ext cx="3509105" cy="142613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41"/>
              </a:lnSpc>
              <a:spcBef>
                <a:spcPts val="150"/>
              </a:spcBef>
              <a:buNone/>
            </a:pPr>
            <a:r>
              <a:rPr lang="en-US" sz="687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YAML 声明外部命令，执行期 LLM </a:t>
            </a:r>
            <a:pPr algn="l" indent="0" marL="0">
              <a:lnSpc>
                <a:spcPts val="741"/>
              </a:lnSpc>
              <a:buNone/>
            </a:pPr>
            <a:r>
              <a:rPr lang="en-US" sz="687" b="1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按需调用</a:t>
            </a:r>
            <a:pPr algn="l" indent="0" marL="0">
              <a:lnSpc>
                <a:spcPts val="741"/>
              </a:lnSpc>
              <a:spcBef>
                <a:spcPts val="150"/>
              </a:spcBef>
              <a:buNone/>
            </a:pPr>
            <a:r>
              <a:rPr lang="en-US" sz="687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作</a:t>
            </a:r>
            <a:pPr algn="l" indent="0" marL="0">
              <a:lnSpc>
                <a:spcPts val="741"/>
              </a:lnSpc>
              <a:buNone/>
            </a:pPr>
            <a:r>
              <a:rPr lang="en-US" sz="687" b="1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数据断言</a:t>
            </a:r>
            <a:pPr algn="l" indent="0" marL="0">
              <a:lnSpc>
                <a:spcPts val="741"/>
              </a:lnSpc>
              <a:spcBef>
                <a:spcPts val="150"/>
              </a:spcBef>
              <a:buNone/>
            </a:pPr>
            <a:r>
              <a:rPr lang="en-US" sz="687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取业务真值。</a:t>
            </a:r>
            <a:endParaRPr lang="en-US" sz="687" dirty="0"/>
          </a:p>
        </p:txBody>
      </p:sp>
      <p:sp>
        <p:nvSpPr>
          <p:cNvPr id="57" name="Shape 47"/>
          <p:cNvSpPr/>
          <p:nvPr/>
        </p:nvSpPr>
        <p:spPr>
          <a:xfrm>
            <a:off x="8063490" y="3642176"/>
            <a:ext cx="3692795" cy="494391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/>
        </p:spPr>
      </p:sp>
      <p:sp>
        <p:nvSpPr>
          <p:cNvPr id="58" name="Text 48"/>
          <p:cNvSpPr/>
          <p:nvPr/>
        </p:nvSpPr>
        <p:spPr>
          <a:xfrm>
            <a:off x="8164836" y="3728487"/>
            <a:ext cx="3509105" cy="152120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775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词汇表 </a:t>
            </a:r>
            <a:pPr algn="l" indent="0" marL="0">
              <a:buNone/>
            </a:pPr>
            <a:r>
              <a:rPr lang="en-US" sz="587" b="1" dirty="0">
                <a:solidFill>
                  <a:srgbClr val="FFFFFF"/>
                </a:solidFill>
                <a:highlight>
                  <a:srgbClr val="478D5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 1 · 3 · 5</a:t>
            </a:r>
            <a:endParaRPr lang="en-US" sz="775" dirty="0"/>
          </a:p>
        </p:txBody>
      </p:sp>
      <p:sp>
        <p:nvSpPr>
          <p:cNvPr id="59" name="Text 49"/>
          <p:cNvSpPr/>
          <p:nvPr/>
        </p:nvSpPr>
        <p:spPr>
          <a:xfrm>
            <a:off x="8164836" y="3908386"/>
            <a:ext cx="3509105" cy="142613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41"/>
              </a:lnSpc>
              <a:spcBef>
                <a:spcPts val="150"/>
              </a:spcBef>
              <a:buNone/>
            </a:pPr>
            <a:r>
              <a:rPr lang="en-US" sz="687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业务词→真实元素，</a:t>
            </a:r>
            <a:pPr algn="l" indent="0" marL="0">
              <a:lnSpc>
                <a:spcPts val="741"/>
              </a:lnSpc>
              <a:buNone/>
            </a:pPr>
            <a:r>
              <a:rPr lang="en-US" sz="687" b="1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跨语言/抗改版</a:t>
            </a:r>
            <a:pPr algn="l" indent="0" marL="0">
              <a:lnSpc>
                <a:spcPts val="741"/>
              </a:lnSpc>
              <a:spcBef>
                <a:spcPts val="150"/>
              </a:spcBef>
              <a:buNone/>
            </a:pPr>
            <a:r>
              <a:rPr lang="en-US" sz="687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定位；执行期增量沉淀、可前端维护。</a:t>
            </a:r>
            <a:endParaRPr lang="en-US" sz="687" dirty="0"/>
          </a:p>
        </p:txBody>
      </p:sp>
      <p:sp>
        <p:nvSpPr>
          <p:cNvPr id="60" name="Text 50"/>
          <p:cNvSpPr/>
          <p:nvPr/>
        </p:nvSpPr>
        <p:spPr>
          <a:xfrm>
            <a:off x="8063490" y="5626723"/>
            <a:ext cx="3692795" cy="304240"/>
          </a:xfrm>
          <a:prstGeom prst="roundRect">
            <a:avLst>
              <a:gd name="adj" fmla="val 25000"/>
            </a:avLst>
          </a:prstGeom>
          <a:solidFill>
            <a:srgbClr val="F3F8F4"/>
          </a:solidFill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86"/>
              </a:lnSpc>
              <a:buNone/>
            </a:pPr>
            <a:r>
              <a:rPr lang="en-US" sz="650" b="1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读图主线</a:t>
            </a:r>
            <a:pPr algn="l" indent="0" marL="0">
              <a:lnSpc>
                <a:spcPts val="786"/>
              </a:lnSpc>
              <a:spcBef>
                <a:spcPts val="7329"/>
              </a:spcBef>
              <a:buNone/>
            </a:pPr>
            <a:r>
              <a:rPr lang="en-US" sz="65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：AI 只管翻译/执行/自愈，</a:t>
            </a:r>
            <a:pPr algn="l" indent="0" marL="0">
              <a:lnSpc>
                <a:spcPts val="786"/>
              </a:lnSpc>
              <a:buNone/>
            </a:pPr>
            <a:r>
              <a:rPr lang="en-US" sz="650" b="1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判定归规则引擎(★)</a:t>
            </a:r>
            <a:pPr algn="l" indent="0" marL="0">
              <a:lnSpc>
                <a:spcPts val="786"/>
              </a:lnSpc>
              <a:spcBef>
                <a:spcPts val="7329"/>
              </a:spcBef>
              <a:buNone/>
            </a:pPr>
            <a:r>
              <a:rPr lang="en-US" sz="65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；成功即转译</a:t>
            </a:r>
            <a:pPr algn="l" indent="0" marL="0">
              <a:lnSpc>
                <a:spcPts val="786"/>
              </a:lnSpc>
              <a:buNone/>
            </a:pPr>
            <a:r>
              <a:rPr lang="en-US" sz="650" b="1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可回放代码</a:t>
            </a:r>
            <a:pPr algn="l" indent="0" marL="0">
              <a:lnSpc>
                <a:spcPts val="786"/>
              </a:lnSpc>
              <a:spcBef>
                <a:spcPts val="7329"/>
              </a:spcBef>
              <a:buNone/>
            </a:pPr>
            <a:r>
              <a:rPr lang="en-US" sz="65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；全程 </a:t>
            </a:r>
            <a:pPr algn="l" indent="0" marL="0">
              <a:lnSpc>
                <a:spcPts val="786"/>
              </a:lnSpc>
              <a:buNone/>
            </a:pPr>
            <a:r>
              <a:rPr lang="en-US" sz="650" b="1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SSE 实时 + 全留痕</a:t>
            </a:r>
            <a:pPr algn="l" indent="0" marL="0">
              <a:lnSpc>
                <a:spcPts val="786"/>
              </a:lnSpc>
              <a:spcBef>
                <a:spcPts val="7329"/>
              </a:spcBef>
              <a:buNone/>
            </a:pPr>
            <a:r>
              <a:rPr lang="en-US" sz="650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650" dirty="0"/>
          </a:p>
        </p:txBody>
      </p:sp>
      <p:sp>
        <p:nvSpPr>
          <p:cNvPr id="61" name="Text 51"/>
          <p:cNvSpPr/>
          <p:nvPr/>
        </p:nvSpPr>
        <p:spPr>
          <a:xfrm>
            <a:off x="403850" y="6498000"/>
            <a:ext cx="1146477" cy="95012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687" dirty="0">
                <a:solidFill>
                  <a:srgbClr val="8A94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T-Agent 进展汇报 · 第 3 页 / 共 4 页</a:t>
            </a:r>
            <a:endParaRPr lang="en-US" sz="687" dirty="0"/>
          </a:p>
        </p:txBody>
      </p:sp>
      <p:pic>
        <p:nvPicPr>
          <p:cNvPr id="62" name="Image 8" descr="preencoded.png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ns3:svgBlip r:embed="rId18"/>
              </a:ext>
            </a:extLst>
          </a:blip>
          <a:stretch>
            <a:fillRect/>
          </a:stretch>
        </p:blipFill>
        <p:spPr>
          <a:xfrm>
            <a:off x="595556" y="1696673"/>
            <a:ext cx="7379256" cy="291370"/>
          </a:xfrm>
          <a:prstGeom prst="rect">
            <a:avLst/>
          </a:prstGeom>
        </p:spPr>
      </p:pic>
      <p:pic>
        <p:nvPicPr>
          <p:cNvPr id="63" name="Image 9" descr="preencoded.png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ns3:svgBlip r:embed="rId20"/>
              </a:ext>
            </a:extLst>
          </a:blip>
          <a:stretch>
            <a:fillRect/>
          </a:stretch>
        </p:blipFill>
        <p:spPr>
          <a:xfrm>
            <a:off x="595556" y="2203394"/>
            <a:ext cx="7379256" cy="291370"/>
          </a:xfrm>
          <a:prstGeom prst="rect">
            <a:avLst/>
          </a:prstGeom>
        </p:spPr>
      </p:pic>
      <p:pic>
        <p:nvPicPr>
          <p:cNvPr id="64" name="Image 10" descr="preencoded.png">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ns3:svgBlip r:embed="rId22"/>
              </a:ext>
            </a:extLst>
          </a:blip>
          <a:stretch>
            <a:fillRect/>
          </a:stretch>
        </p:blipFill>
        <p:spPr>
          <a:xfrm>
            <a:off x="595556" y="2710116"/>
            <a:ext cx="7379256" cy="291370"/>
          </a:xfrm>
          <a:prstGeom prst="rect">
            <a:avLst/>
          </a:prstGeom>
        </p:spPr>
      </p:pic>
      <p:pic>
        <p:nvPicPr>
          <p:cNvPr id="65" name="Image 11" descr="preencoded.png">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ns3:svgBlip r:embed="rId24"/>
              </a:ext>
            </a:extLst>
          </a:blip>
          <a:stretch>
            <a:fillRect/>
          </a:stretch>
        </p:blipFill>
        <p:spPr>
          <a:xfrm>
            <a:off x="595556" y="3216837"/>
            <a:ext cx="7379256" cy="291370"/>
          </a:xfrm>
          <a:prstGeom prst="rect">
            <a:avLst/>
          </a:prstGeom>
        </p:spPr>
      </p:pic>
      <p:pic>
        <p:nvPicPr>
          <p:cNvPr id="66" name="Image 12" descr="preencoded.png">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ns3:svgBlip r:embed="rId26"/>
              </a:ext>
            </a:extLst>
          </a:blip>
          <a:stretch>
            <a:fillRect/>
          </a:stretch>
        </p:blipFill>
        <p:spPr>
          <a:xfrm>
            <a:off x="595556" y="3723558"/>
            <a:ext cx="7379256" cy="291370"/>
          </a:xfrm>
          <a:prstGeom prst="rect">
            <a:avLst/>
          </a:prstGeom>
        </p:spPr>
      </p:pic>
      <p:pic>
        <p:nvPicPr>
          <p:cNvPr id="67" name="Image 13" descr="preencoded.png">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ns3:svgBlip r:embed="rId28"/>
              </a:ext>
            </a:extLst>
          </a:blip>
          <a:stretch>
            <a:fillRect/>
          </a:stretch>
        </p:blipFill>
        <p:spPr>
          <a:xfrm>
            <a:off x="665133" y="3767897"/>
            <a:ext cx="3585115" cy="202692"/>
          </a:xfrm>
          <a:prstGeom prst="rect">
            <a:avLst/>
          </a:prstGeom>
        </p:spPr>
      </p:pic>
      <p:pic>
        <p:nvPicPr>
          <p:cNvPr id="68" name="Image 14" descr="preencoded.png">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ns3:svgBlip r:embed="rId30"/>
              </a:ext>
            </a:extLst>
          </a:blip>
          <a:stretch>
            <a:fillRect/>
          </a:stretch>
        </p:blipFill>
        <p:spPr>
          <a:xfrm>
            <a:off x="4313737" y="3767897"/>
            <a:ext cx="3585115" cy="202692"/>
          </a:xfrm>
          <a:prstGeom prst="rect">
            <a:avLst/>
          </a:prstGeom>
        </p:spPr>
      </p:pic>
      <p:pic>
        <p:nvPicPr>
          <p:cNvPr id="69" name="Image 15" descr="preencoded.png">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ns3:svgBlip r:embed="rId32"/>
              </a:ext>
            </a:extLst>
          </a:blip>
          <a:stretch>
            <a:fillRect/>
          </a:stretch>
        </p:blipFill>
        <p:spPr>
          <a:xfrm>
            <a:off x="595556" y="4230279"/>
            <a:ext cx="7379256" cy="291370"/>
          </a:xfrm>
          <a:prstGeom prst="rect">
            <a:avLst/>
          </a:prstGeom>
        </p:spPr>
      </p:pic>
      <p:pic>
        <p:nvPicPr>
          <p:cNvPr id="70" name="Image 16" descr="preencoded.png">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ns3:svgBlip r:embed="rId34"/>
              </a:ext>
            </a:extLst>
          </a:blip>
          <a:stretch>
            <a:fillRect/>
          </a:stretch>
        </p:blipFill>
        <p:spPr>
          <a:xfrm>
            <a:off x="595556" y="4737000"/>
            <a:ext cx="7379256" cy="291370"/>
          </a:xfrm>
          <a:prstGeom prst="rect">
            <a:avLst/>
          </a:prstGeom>
        </p:spPr>
      </p:pic>
      <p:pic>
        <p:nvPicPr>
          <p:cNvPr id="71" name="Image 17" descr="preencoded.png">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ns3:svgBlip r:embed="rId36"/>
              </a:ext>
            </a:extLst>
          </a:blip>
          <a:stretch>
            <a:fillRect/>
          </a:stretch>
        </p:blipFill>
        <p:spPr>
          <a:xfrm>
            <a:off x="665133" y="4781339"/>
            <a:ext cx="3585115" cy="202692"/>
          </a:xfrm>
          <a:prstGeom prst="rect">
            <a:avLst/>
          </a:prstGeom>
        </p:spPr>
      </p:pic>
      <p:pic>
        <p:nvPicPr>
          <p:cNvPr id="72" name="Image 18" descr="preencoded.png">    </p:cNvPr>
          <p:cNvPicPr>
            <a:picLocks noChangeAspect="1"/>
          </p:cNvPicPr>
          <p:nvPr/>
        </p:nvPicPr>
        <p:blipFill>
          <a:blip r:embed="rId37">
            <a:extLst>
              <a:ext uri="{96DAC541-7B7A-43D3-8B79-37D633B846F1}">
                <ns3:svgBlip r:embed="rId38"/>
              </a:ext>
            </a:extLst>
          </a:blip>
          <a:stretch>
            <a:fillRect/>
          </a:stretch>
        </p:blipFill>
        <p:spPr>
          <a:xfrm>
            <a:off x="4313737" y="4781339"/>
            <a:ext cx="3585115" cy="202692"/>
          </a:xfrm>
          <a:prstGeom prst="rect">
            <a:avLst/>
          </a:prstGeom>
        </p:spPr>
      </p:pic>
      <p:pic>
        <p:nvPicPr>
          <p:cNvPr id="73" name="Image 19" descr="preencoded.png">    </p:cNvPr>
          <p:cNvPicPr>
            <a:picLocks noChangeAspect="1"/>
          </p:cNvPicPr>
          <p:nvPr/>
        </p:nvPicPr>
        <p:blipFill>
          <a:blip r:embed="rId39">
            <a:extLst>
              <a:ext uri="{96DAC541-7B7A-43D3-8B79-37D633B846F1}">
                <ns3:svgBlip r:embed="rId40"/>
              </a:ext>
            </a:extLst>
          </a:blip>
          <a:stretch>
            <a:fillRect/>
          </a:stretch>
        </p:blipFill>
        <p:spPr>
          <a:xfrm>
            <a:off x="595556" y="5243721"/>
            <a:ext cx="7379256" cy="291370"/>
          </a:xfrm>
          <a:prstGeom prst="rect">
            <a:avLst/>
          </a:prstGeom>
        </p:spPr>
      </p:pic>
      <p:pic>
        <p:nvPicPr>
          <p:cNvPr id="74" name="Image 20" descr="preencoded.png">    </p:cNvPr>
          <p:cNvPicPr>
            <a:picLocks noChangeAspect="1"/>
          </p:cNvPicPr>
          <p:nvPr/>
        </p:nvPicPr>
        <p:blipFill>
          <a:blip r:embed="rId41">
            <a:extLst>
              <a:ext uri="{96DAC541-7B7A-43D3-8B79-37D633B846F1}">
                <ns3:svgBlip r:embed="rId42"/>
              </a:ext>
            </a:extLst>
          </a:blip>
          <a:stretch>
            <a:fillRect/>
          </a:stretch>
        </p:blipFill>
        <p:spPr>
          <a:xfrm>
            <a:off x="8063490" y="1649247"/>
            <a:ext cx="3692795" cy="107680"/>
          </a:xfrm>
          <a:prstGeom prst="rect">
            <a:avLst/>
          </a:prstGeom>
        </p:spPr>
      </p:pic>
      <p:pic>
        <p:nvPicPr>
          <p:cNvPr id="75" name="Image 21" descr="preencoded.png">    </p:cNvPr>
          <p:cNvPicPr>
            <a:picLocks noChangeAspect="1"/>
          </p:cNvPicPr>
          <p:nvPr/>
        </p:nvPicPr>
        <p:blipFill>
          <a:blip r:embed="rId43">
            <a:extLst>
              <a:ext uri="{96DAC541-7B7A-43D3-8B79-37D633B846F1}">
                <ns3:svgBlip r:embed="rId44"/>
              </a:ext>
            </a:extLst>
          </a:blip>
          <a:stretch>
            <a:fillRect/>
          </a:stretch>
        </p:blipFill>
        <p:spPr>
          <a:xfrm>
            <a:off x="8063490" y="1960742"/>
            <a:ext cx="3692795" cy="329375"/>
          </a:xfrm>
          <a:prstGeom prst="rect">
            <a:avLst/>
          </a:prstGeom>
        </p:spPr>
      </p:pic>
      <p:pic>
        <p:nvPicPr>
          <p:cNvPr id="76" name="Image 22" descr="preencoded.png">    </p:cNvPr>
          <p:cNvPicPr>
            <a:picLocks noChangeAspect="1"/>
          </p:cNvPicPr>
          <p:nvPr/>
        </p:nvPicPr>
        <p:blipFill>
          <a:blip r:embed="rId45">
            <a:extLst>
              <a:ext uri="{96DAC541-7B7A-43D3-8B79-37D633B846F1}">
                <ns3:svgBlip r:embed="rId46"/>
              </a:ext>
            </a:extLst>
          </a:blip>
          <a:stretch>
            <a:fillRect/>
          </a:stretch>
        </p:blipFill>
        <p:spPr>
          <a:xfrm>
            <a:off x="8063490" y="2548723"/>
            <a:ext cx="3692795" cy="329375"/>
          </a:xfrm>
          <a:prstGeom prst="rect">
            <a:avLst/>
          </a:prstGeom>
        </p:spPr>
      </p:pic>
      <p:pic>
        <p:nvPicPr>
          <p:cNvPr id="77" name="Image 23" descr="preencoded.png">    </p:cNvPr>
          <p:cNvPicPr>
            <a:picLocks noChangeAspect="1"/>
          </p:cNvPicPr>
          <p:nvPr/>
        </p:nvPicPr>
        <p:blipFill>
          <a:blip r:embed="rId47">
            <a:extLst>
              <a:ext uri="{96DAC541-7B7A-43D3-8B79-37D633B846F1}">
                <ns3:svgBlip r:embed="rId48"/>
              </a:ext>
            </a:extLst>
          </a:blip>
          <a:stretch>
            <a:fillRect/>
          </a:stretch>
        </p:blipFill>
        <p:spPr>
          <a:xfrm>
            <a:off x="8063490" y="3136704"/>
            <a:ext cx="3692795" cy="329375"/>
          </a:xfrm>
          <a:prstGeom prst="rect">
            <a:avLst/>
          </a:prstGeom>
        </p:spPr>
      </p:pic>
      <p:pic>
        <p:nvPicPr>
          <p:cNvPr id="78" name="Image 24" descr="preencoded.png">    </p:cNvPr>
          <p:cNvPicPr>
            <a:picLocks noChangeAspect="1"/>
          </p:cNvPicPr>
          <p:nvPr/>
        </p:nvPicPr>
        <p:blipFill>
          <a:blip r:embed="rId49">
            <a:extLst>
              <a:ext uri="{96DAC541-7B7A-43D3-8B79-37D633B846F1}">
                <ns3:svgBlip r:embed="rId50"/>
              </a:ext>
            </a:extLst>
          </a:blip>
          <a:stretch>
            <a:fillRect/>
          </a:stretch>
        </p:blipFill>
        <p:spPr>
          <a:xfrm>
            <a:off x="8063490" y="3724684"/>
            <a:ext cx="3692795" cy="32937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0040"/>
            <a:ext cx="12161520" cy="6217920"/>
          </a:xfrm>
          <a:prstGeom prst="rect">
            <a:avLst/>
          </a:prstGeom>
          <a:solidFill>
            <a:srgbClr val="EEF1EE"/>
          </a:solidFill>
          <a:ln/>
        </p:spPr>
      </p:sp>
      <p:sp>
        <p:nvSpPr>
          <p:cNvPr id="3" name="Text 1"/>
          <p:cNvSpPr/>
          <p:nvPr/>
        </p:nvSpPr>
        <p:spPr>
          <a:xfrm>
            <a:off x="405384" y="842894"/>
            <a:ext cx="11350752" cy="216770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875" b="1" spc="100" kern="0" dirty="0">
                <a:solidFill>
                  <a:srgbClr val="478D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 · 进展 · 计划</a:t>
            </a:r>
            <a:endParaRPr lang="en-US" sz="875" dirty="0"/>
          </a:p>
        </p:txBody>
      </p:sp>
      <p:sp>
        <p:nvSpPr>
          <p:cNvPr id="4" name="Text 2"/>
          <p:cNvSpPr/>
          <p:nvPr/>
        </p:nvSpPr>
        <p:spPr>
          <a:xfrm>
            <a:off x="405384" y="1105302"/>
            <a:ext cx="11350752" cy="456361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875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效果演示 · 当前进展 · 下一步计划</a:t>
            </a:r>
            <a:endParaRPr lang="en-US" sz="1875" dirty="0"/>
          </a:p>
        </p:txBody>
      </p:sp>
      <p:sp>
        <p:nvSpPr>
          <p:cNvPr id="5" name="Shape 3"/>
          <p:cNvSpPr/>
          <p:nvPr/>
        </p:nvSpPr>
        <p:spPr>
          <a:xfrm>
            <a:off x="405384" y="1698570"/>
            <a:ext cx="380048" cy="45637"/>
          </a:xfrm>
          <a:prstGeom prst="roundRect">
            <a:avLst>
              <a:gd name="adj" fmla="val 49999"/>
            </a:avLst>
          </a:prstGeom>
          <a:solidFill>
            <a:srgbClr val="478D54"/>
          </a:solidFill>
          <a:ln/>
        </p:spPr>
      </p:sp>
      <p:sp>
        <p:nvSpPr>
          <p:cNvPr id="6" name="Text 4"/>
          <p:cNvSpPr/>
          <p:nvPr/>
        </p:nvSpPr>
        <p:spPr>
          <a:xfrm>
            <a:off x="406621" y="1881115"/>
            <a:ext cx="5472684" cy="216770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875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演示录屏</a:t>
            </a:r>
            <a:endParaRPr lang="en-US" sz="875" dirty="0"/>
          </a:p>
        </p:txBody>
      </p:sp>
      <p:sp>
        <p:nvSpPr>
          <p:cNvPr id="7" name="Shape 5"/>
          <p:cNvSpPr/>
          <p:nvPr/>
        </p:nvSpPr>
        <p:spPr>
          <a:xfrm>
            <a:off x="406621" y="2190586"/>
            <a:ext cx="5472684" cy="2304623"/>
          </a:xfrm>
          <a:prstGeom prst="roundRect">
            <a:avLst>
              <a:gd name="adj" fmla="val 5941"/>
            </a:avLst>
          </a:prstGeom>
          <a:solidFill>
            <a:srgbClr val="FAFBFA"/>
          </a:solidFill>
          <a:ln w="12668">
            <a:solidFill>
              <a:srgbClr val="8A948E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3038450" y="2773504"/>
            <a:ext cx="209026" cy="323040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2375" dirty="0">
                <a:solidFill>
                  <a:srgbClr val="478D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2375" dirty="0"/>
          </a:p>
        </p:txBody>
      </p:sp>
      <p:sp>
        <p:nvSpPr>
          <p:cNvPr id="9" name="Text 7"/>
          <p:cNvSpPr/>
          <p:nvPr/>
        </p:nvSpPr>
        <p:spPr>
          <a:xfrm>
            <a:off x="2743864" y="3328635"/>
            <a:ext cx="798100" cy="216770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875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演示录屏（待插入）</a:t>
            </a:r>
            <a:endParaRPr lang="en-US" sz="875" dirty="0"/>
          </a:p>
        </p:txBody>
      </p:sp>
      <p:sp>
        <p:nvSpPr>
          <p:cNvPr id="10" name="Text 8"/>
          <p:cNvSpPr/>
          <p:nvPr/>
        </p:nvSpPr>
        <p:spPr>
          <a:xfrm>
            <a:off x="2354365" y="3645235"/>
            <a:ext cx="1577197" cy="399315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ts val="860"/>
              </a:lnSpc>
              <a:buNone/>
            </a:pPr>
            <a:r>
              <a:rPr lang="en-US" sz="712" dirty="0">
                <a:solidFill>
                  <a:srgbClr val="8A94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建议：并排 openclaw vs T-Agent 跑同一用例，</a:t>
            </a:r>
            <a:pPr algn="ctr" indent="0" marL="0">
              <a:buNone/>
            </a:pPr>
            <a:endParaRPr lang="en-US" sz="712" dirty="0"/>
          </a:p>
          <a:p>
            <a:pPr algn="ctr" indent="0" marL="0">
              <a:lnSpc>
                <a:spcPts val="860"/>
              </a:lnSpc>
              <a:buNone/>
            </a:pPr>
            <a:r>
              <a:rPr lang="en-US" sz="712" dirty="0">
                <a:solidFill>
                  <a:srgbClr val="8A94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对比「判定方式」与「有无代码产出」</a:t>
            </a:r>
            <a:endParaRPr lang="en-US" sz="712" dirty="0"/>
          </a:p>
        </p:txBody>
      </p:sp>
      <p:sp>
        <p:nvSpPr>
          <p:cNvPr id="11" name="Text 9"/>
          <p:cNvSpPr/>
          <p:nvPr/>
        </p:nvSpPr>
        <p:spPr>
          <a:xfrm>
            <a:off x="6005988" y="1881115"/>
            <a:ext cx="5751385" cy="216770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875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当前进展</a:t>
            </a:r>
            <a:endParaRPr lang="en-US" sz="875" dirty="0"/>
          </a:p>
        </p:txBody>
      </p:sp>
      <p:sp>
        <p:nvSpPr>
          <p:cNvPr id="12" name="Text 10"/>
          <p:cNvSpPr/>
          <p:nvPr/>
        </p:nvSpPr>
        <p:spPr>
          <a:xfrm>
            <a:off x="6005988" y="2189159"/>
            <a:ext cx="5751385" cy="296634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712" b="1" dirty="0">
                <a:solidFill>
                  <a:srgbClr val="FFFFFF"/>
                </a:solidFill>
                <a:highlight>
                  <a:srgbClr val="478D5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执行引擎 ✓</a:t>
            </a:r>
            <a:pPr algn="l" indent="0" marL="0">
              <a:spcBef>
                <a:spcPts val="399"/>
              </a:spcBef>
              <a:buNone/>
            </a:pPr>
            <a:r>
              <a:rPr lang="en-US" sz="1000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buNone/>
            </a:pPr>
            <a:r>
              <a:rPr lang="en-US" sz="712" b="1" dirty="0">
                <a:solidFill>
                  <a:srgbClr val="FFFFFF"/>
                </a:solidFill>
                <a:highlight>
                  <a:srgbClr val="478D5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Harness 能力 ✓</a:t>
            </a:r>
            <a:pPr algn="l" indent="0" marL="0">
              <a:spcBef>
                <a:spcPts val="399"/>
              </a:spcBef>
              <a:buNone/>
            </a:pPr>
            <a:r>
              <a:rPr lang="en-US" sz="1000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buNone/>
            </a:pPr>
            <a:r>
              <a:rPr lang="en-US" sz="712" b="1" dirty="0">
                <a:solidFill>
                  <a:srgbClr val="FFFFFF"/>
                </a:solidFill>
                <a:highlight>
                  <a:srgbClr val="478D5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输出层 ✓</a:t>
            </a:r>
            <a:pPr algn="l" indent="0" marL="0">
              <a:spcBef>
                <a:spcPts val="399"/>
              </a:spcBef>
              <a:buNone/>
            </a:pPr>
            <a:r>
              <a:rPr lang="en-US" sz="1000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buNone/>
            </a:pPr>
            <a:r>
              <a:rPr lang="en-US" sz="712" b="1" dirty="0">
                <a:solidFill>
                  <a:srgbClr val="FFFFFF"/>
                </a:solidFill>
                <a:highlight>
                  <a:srgbClr val="478D5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工程化界面 ✓</a:t>
            </a:r>
            <a:pPr algn="l" indent="0" marL="0">
              <a:spcBef>
                <a:spcPts val="399"/>
              </a:spcBef>
              <a:buNone/>
            </a:pPr>
            <a:r>
              <a:rPr lang="en-US" sz="1000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buNone/>
            </a:pPr>
            <a:r>
              <a:rPr lang="en-US" sz="712" b="1" dirty="0">
                <a:solidFill>
                  <a:srgbClr val="C47F1A"/>
                </a:solidFill>
                <a:highlight>
                  <a:srgbClr val="FDF3E0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内网验证 ⟳</a:t>
            </a:r>
            <a:endParaRPr lang="en-US" sz="712" dirty="0"/>
          </a:p>
        </p:txBody>
      </p:sp>
      <p:sp>
        <p:nvSpPr>
          <p:cNvPr id="13" name="Text 11"/>
          <p:cNvSpPr/>
          <p:nvPr/>
        </p:nvSpPr>
        <p:spPr>
          <a:xfrm>
            <a:off x="6005988" y="2599884"/>
            <a:ext cx="5751385" cy="182544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spcBef>
                <a:spcPts val="499"/>
              </a:spcBef>
              <a:buNone/>
            </a:pPr>
            <a:r>
              <a:rPr lang="en-US" sz="775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真实环境 live 验证（DeepSeek + 真实 Chrome）</a:t>
            </a:r>
            <a:endParaRPr lang="en-US" sz="775" dirty="0"/>
          </a:p>
        </p:txBody>
      </p:sp>
      <p:sp>
        <p:nvSpPr>
          <p:cNvPr id="14" name="Text 12"/>
          <p:cNvSpPr/>
          <p:nvPr/>
        </p:nvSpPr>
        <p:spPr>
          <a:xfrm>
            <a:off x="6005988" y="2850883"/>
            <a:ext cx="5751385" cy="216770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41"/>
              </a:lnSpc>
              <a:spcBef>
                <a:spcPts val="50"/>
              </a:spcBef>
              <a:buNone/>
            </a:pPr>
            <a:r>
              <a:rPr lang="en-US" sz="687" b="1" dirty="0">
                <a:solidFill>
                  <a:srgbClr val="FFFFFF"/>
                </a:solidFill>
                <a:highlight>
                  <a:srgbClr val="478D5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pPr algn="l" indent="0" marL="0">
              <a:lnSpc>
                <a:spcPts val="842"/>
              </a:lnSpc>
              <a:buNone/>
            </a:pPr>
            <a:r>
              <a:rPr lang="en-US" sz="775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基础流程：登录+加购，断言通过、</a:t>
            </a:r>
            <a:pPr algn="l" indent="0" marL="0">
              <a:lnSpc>
                <a:spcPts val="842"/>
              </a:lnSpc>
              <a:buNone/>
            </a:pPr>
            <a:r>
              <a:rPr lang="en-US" sz="775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多轮稳定复现</a:t>
            </a:r>
            <a:endParaRPr lang="en-US" sz="687" dirty="0"/>
          </a:p>
        </p:txBody>
      </p:sp>
      <p:sp>
        <p:nvSpPr>
          <p:cNvPr id="15" name="Text 13"/>
          <p:cNvSpPr/>
          <p:nvPr/>
        </p:nvSpPr>
        <p:spPr>
          <a:xfrm>
            <a:off x="6005988" y="3136108"/>
            <a:ext cx="5751385" cy="216770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41"/>
              </a:lnSpc>
              <a:spcBef>
                <a:spcPts val="50"/>
              </a:spcBef>
              <a:buNone/>
            </a:pPr>
            <a:r>
              <a:rPr lang="en-US" sz="687" b="1" dirty="0">
                <a:solidFill>
                  <a:srgbClr val="FFFFFF"/>
                </a:solidFill>
                <a:highlight>
                  <a:srgbClr val="478D5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pPr algn="l" indent="0" marL="0">
              <a:lnSpc>
                <a:spcPts val="842"/>
              </a:lnSpc>
              <a:buNone/>
            </a:pPr>
            <a:r>
              <a:rPr lang="en-US" sz="775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复杂多步：完整结算 </a:t>
            </a:r>
            <a:pPr algn="l" indent="0" marL="0">
              <a:lnSpc>
                <a:spcPts val="842"/>
              </a:lnSpc>
              <a:buNone/>
            </a:pPr>
            <a:r>
              <a:rPr lang="en-US" sz="775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步全过</a:t>
            </a:r>
            <a:pPr algn="l" indent="0" marL="0">
              <a:lnSpc>
                <a:spcPts val="842"/>
              </a:lnSpc>
              <a:buNone/>
            </a:pPr>
            <a:r>
              <a:rPr lang="en-US" sz="775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+ 2 次自动自愈</a:t>
            </a:r>
            <a:endParaRPr lang="en-US" sz="687" dirty="0"/>
          </a:p>
        </p:txBody>
      </p:sp>
      <p:sp>
        <p:nvSpPr>
          <p:cNvPr id="16" name="Text 14"/>
          <p:cNvSpPr/>
          <p:nvPr/>
        </p:nvSpPr>
        <p:spPr>
          <a:xfrm>
            <a:off x="6005988" y="3421334"/>
            <a:ext cx="5751385" cy="216770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41"/>
              </a:lnSpc>
              <a:spcBef>
                <a:spcPts val="50"/>
              </a:spcBef>
              <a:buNone/>
            </a:pPr>
            <a:r>
              <a:rPr lang="en-US" sz="687" b="1" dirty="0">
                <a:solidFill>
                  <a:srgbClr val="FFFFFF"/>
                </a:solidFill>
                <a:highlight>
                  <a:srgbClr val="478D5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pPr algn="l" indent="0" marL="0">
              <a:lnSpc>
                <a:spcPts val="842"/>
              </a:lnSpc>
              <a:buNone/>
            </a:pPr>
            <a:r>
              <a:rPr lang="en-US" sz="775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代码转译：生成代码 </a:t>
            </a:r>
            <a:pPr algn="l" indent="0" marL="0">
              <a:lnSpc>
                <a:spcPts val="842"/>
              </a:lnSpc>
              <a:buNone/>
            </a:pPr>
            <a:r>
              <a:rPr lang="en-US" sz="775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Playwright 真实回放通过</a:t>
            </a:r>
            <a:endParaRPr lang="en-US" sz="687" dirty="0"/>
          </a:p>
        </p:txBody>
      </p:sp>
      <p:sp>
        <p:nvSpPr>
          <p:cNvPr id="17" name="Text 15"/>
          <p:cNvSpPr/>
          <p:nvPr/>
        </p:nvSpPr>
        <p:spPr>
          <a:xfrm>
            <a:off x="6005988" y="3706559"/>
            <a:ext cx="5751385" cy="216770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41"/>
              </a:lnSpc>
              <a:spcBef>
                <a:spcPts val="50"/>
              </a:spcBef>
              <a:buNone/>
            </a:pPr>
            <a:r>
              <a:rPr lang="en-US" sz="687" b="1" dirty="0">
                <a:solidFill>
                  <a:srgbClr val="FFFFFF"/>
                </a:solidFill>
                <a:highlight>
                  <a:srgbClr val="478D5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pPr algn="l" indent="0" marL="0">
              <a:lnSpc>
                <a:spcPts val="842"/>
              </a:lnSpc>
              <a:buNone/>
            </a:pPr>
            <a:r>
              <a:rPr lang="en-US" sz="775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登录态复用：Cookie 注入免登录，</a:t>
            </a:r>
            <a:pPr algn="l" indent="0" marL="0">
              <a:lnSpc>
                <a:spcPts val="842"/>
              </a:lnSpc>
              <a:buNone/>
            </a:pPr>
            <a:r>
              <a:rPr lang="en-US" sz="775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步数 7→3</a:t>
            </a:r>
            <a:endParaRPr lang="en-US" sz="687" dirty="0"/>
          </a:p>
        </p:txBody>
      </p:sp>
      <p:sp>
        <p:nvSpPr>
          <p:cNvPr id="18" name="Text 16"/>
          <p:cNvSpPr/>
          <p:nvPr/>
        </p:nvSpPr>
        <p:spPr>
          <a:xfrm>
            <a:off x="6005988" y="3991786"/>
            <a:ext cx="5751385" cy="216770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741"/>
              </a:lnSpc>
              <a:spcBef>
                <a:spcPts val="50"/>
              </a:spcBef>
              <a:buNone/>
            </a:pPr>
            <a:r>
              <a:rPr lang="en-US" sz="687" b="1" dirty="0">
                <a:solidFill>
                  <a:srgbClr val="FFFFFF"/>
                </a:solidFill>
                <a:highlight>
                  <a:srgbClr val="478D54"/>
                </a:highlight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pPr algn="l" indent="0" marL="0">
              <a:lnSpc>
                <a:spcPts val="842"/>
              </a:lnSpc>
              <a:buNone/>
            </a:pPr>
            <a:r>
              <a:rPr lang="en-US" sz="775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数据断言 + 全链路：custom_tool 确定性比较、</a:t>
            </a:r>
            <a:pPr algn="l" indent="0" marL="0">
              <a:lnSpc>
                <a:spcPts val="842"/>
              </a:lnSpc>
              <a:buNone/>
            </a:pPr>
            <a:r>
              <a:rPr lang="en-US" sz="775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API+SSE</a:t>
            </a:r>
            <a:pPr algn="l" indent="0" marL="0">
              <a:lnSpc>
                <a:spcPts val="842"/>
              </a:lnSpc>
              <a:buNone/>
            </a:pPr>
            <a:r>
              <a:rPr lang="en-US" sz="775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端到端跑通</a:t>
            </a:r>
            <a:endParaRPr lang="en-US" sz="687" dirty="0"/>
          </a:p>
        </p:txBody>
      </p:sp>
      <p:sp>
        <p:nvSpPr>
          <p:cNvPr id="19" name="Text 17"/>
          <p:cNvSpPr/>
          <p:nvPr/>
        </p:nvSpPr>
        <p:spPr>
          <a:xfrm>
            <a:off x="6005988" y="4301256"/>
            <a:ext cx="5751385" cy="193953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860"/>
              </a:lnSpc>
              <a:spcBef>
                <a:spcPts val="399"/>
              </a:spcBef>
              <a:buNone/>
            </a:pPr>
            <a:r>
              <a:rPr lang="en-US" sz="712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质量基线：约 </a:t>
            </a:r>
            <a:pPr algn="l" indent="0" marL="0">
              <a:lnSpc>
                <a:spcPts val="860"/>
              </a:lnSpc>
              <a:buNone/>
            </a:pPr>
            <a:r>
              <a:rPr lang="en-US" sz="712" b="1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378</a:t>
            </a:r>
            <a:pPr algn="l" indent="0" marL="0">
              <a:lnSpc>
                <a:spcPts val="860"/>
              </a:lnSpc>
              <a:spcBef>
                <a:spcPts val="399"/>
              </a:spcBef>
              <a:buNone/>
            </a:pPr>
            <a:r>
              <a:rPr lang="en-US" sz="712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个单元测试。当前转入 </a:t>
            </a:r>
            <a:pPr algn="l" indent="0" marL="0">
              <a:lnSpc>
                <a:spcPts val="860"/>
              </a:lnSpc>
              <a:buNone/>
            </a:pPr>
            <a:r>
              <a:rPr lang="en-US" sz="712" b="1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真实内网业务系统</a:t>
            </a:r>
            <a:pPr algn="l" indent="0" marL="0">
              <a:lnSpc>
                <a:spcPts val="860"/>
              </a:lnSpc>
              <a:spcBef>
                <a:spcPts val="399"/>
              </a:spcBef>
              <a:buNone/>
            </a:pPr>
            <a:r>
              <a:rPr lang="en-US" sz="712" dirty="0">
                <a:solidFill>
                  <a:srgbClr val="5260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验证。</a:t>
            </a:r>
            <a:endParaRPr lang="en-US" sz="712" dirty="0"/>
          </a:p>
        </p:txBody>
      </p:sp>
      <p:sp>
        <p:nvSpPr>
          <p:cNvPr id="20" name="Text 18"/>
          <p:cNvSpPr/>
          <p:nvPr/>
        </p:nvSpPr>
        <p:spPr>
          <a:xfrm>
            <a:off x="405384" y="4633543"/>
            <a:ext cx="11350752" cy="216770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spcBef>
                <a:spcPts val="599"/>
              </a:spcBef>
              <a:buNone/>
            </a:pPr>
            <a:r>
              <a:rPr lang="en-US" sz="875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下一步计划</a:t>
            </a:r>
            <a:endParaRPr lang="en-US" sz="875" dirty="0"/>
          </a:p>
        </p:txBody>
      </p:sp>
      <p:sp>
        <p:nvSpPr>
          <p:cNvPr id="21" name="Shape 19"/>
          <p:cNvSpPr/>
          <p:nvPr/>
        </p:nvSpPr>
        <p:spPr>
          <a:xfrm>
            <a:off x="405384" y="4942121"/>
            <a:ext cx="1076801" cy="867087"/>
          </a:xfrm>
          <a:prstGeom prst="roundRect">
            <a:avLst>
              <a:gd name="adj" fmla="val 13158"/>
            </a:avLst>
          </a:prstGeom>
          <a:solidFill>
            <a:srgbClr val="F3F8F4"/>
          </a:solidFill>
          <a:ln/>
        </p:spPr>
      </p:sp>
      <p:sp>
        <p:nvSpPr>
          <p:cNvPr id="22" name="Text 20"/>
          <p:cNvSpPr/>
          <p:nvPr/>
        </p:nvSpPr>
        <p:spPr>
          <a:xfrm>
            <a:off x="538401" y="5055678"/>
            <a:ext cx="836105" cy="171135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687" b="1" dirty="0">
                <a:solidFill>
                  <a:srgbClr val="356B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 1</a:t>
            </a:r>
            <a:endParaRPr lang="en-US" sz="687" dirty="0"/>
          </a:p>
        </p:txBody>
      </p:sp>
      <p:sp>
        <p:nvSpPr>
          <p:cNvPr id="23" name="Text 21"/>
          <p:cNvSpPr/>
          <p:nvPr/>
        </p:nvSpPr>
        <p:spPr>
          <a:xfrm>
            <a:off x="538401" y="5238757"/>
            <a:ext cx="836105" cy="262407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lnSpc>
                <a:spcPts val="1152"/>
              </a:lnSpc>
              <a:buNone/>
            </a:pPr>
            <a:r>
              <a:rPr lang="en-US" sz="1312" b="1" dirty="0">
                <a:solidFill>
                  <a:srgbClr val="478D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/ 30</a:t>
            </a:r>
            <a:endParaRPr lang="en-US" sz="1312" dirty="0"/>
          </a:p>
        </p:txBody>
      </p:sp>
      <p:sp>
        <p:nvSpPr>
          <p:cNvPr id="24" name="Text 22"/>
          <p:cNvSpPr/>
          <p:nvPr/>
        </p:nvSpPr>
        <p:spPr>
          <a:xfrm>
            <a:off x="538401" y="5513107"/>
            <a:ext cx="836105" cy="182544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775" dirty="0">
                <a:solidFill>
                  <a:srgbClr val="1F2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 1 期计划</a:t>
            </a:r>
            <a:endParaRPr lang="en-US" sz="775" dirty="0"/>
          </a:p>
        </p:txBody>
      </p:sp>
      <p:sp>
        <p:nvSpPr>
          <p:cNvPr id="25" name="Text 23"/>
          <p:cNvSpPr/>
          <p:nvPr/>
        </p:nvSpPr>
        <p:spPr>
          <a:xfrm>
            <a:off x="1570863" y="4942121"/>
            <a:ext cx="10185273" cy="867087"/>
          </a:xfrm>
          <a:prstGeom prst="roundRect">
            <a:avLst>
              <a:gd name="adj" fmla="val 13158"/>
            </a:avLst>
          </a:prstGeom>
          <a:solidFill>
            <a:srgbClr val="FAFBFA"/>
          </a:solidFill>
          <a:ln w="12668">
            <a:solidFill>
              <a:srgbClr val="8A948E"/>
            </a:solidFill>
            <a:prstDash val="dash"/>
          </a:ln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8A94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后续里程碑（待补充）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03850" y="6498000"/>
            <a:ext cx="1146477" cy="95012"/>
          </a:xfrm>
          <a:prstGeom prst="rect">
            <a:avLst/>
          </a:prstGeom>
          <a:ln/>
        </p:spPr>
        <p:txBody>
          <a:bodyPr wrap="square" lIns="0" tIns="0" rIns="0" bIns="0" rtlCol="0" anchor="ctr">
            <a:spAutoFit/>
          </a:bodyPr>
          <a:lstStyle/>
          <a:p>
            <a:pPr algn="l" indent="0" marL="0">
              <a:buNone/>
            </a:pPr>
            <a:r>
              <a:rPr lang="en-US" sz="687" dirty="0">
                <a:solidFill>
                  <a:srgbClr val="8A94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T-Agent 进展汇报 · 第 4 页 / 共 4 页</a:t>
            </a:r>
            <a:endParaRPr lang="en-US" sz="687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ns3:svgBlip r:embed="rId2"/>
              </a:ext>
            </a:extLst>
          </a:blip>
          <a:stretch>
            <a:fillRect/>
          </a:stretch>
        </p:blipFill>
        <p:spPr>
          <a:xfrm>
            <a:off x="406621" y="1929326"/>
            <a:ext cx="5472684" cy="120348"/>
          </a:xfrm>
          <a:prstGeom prst="rect">
            <a:avLst/>
          </a:prstGeom>
        </p:spPr>
      </p:pic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3:svgBlip r:embed="rId4"/>
              </a:ext>
            </a:extLst>
          </a:blip>
          <a:stretch>
            <a:fillRect/>
          </a:stretch>
        </p:blipFill>
        <p:spPr>
          <a:xfrm>
            <a:off x="6005988" y="1929326"/>
            <a:ext cx="5751385" cy="120348"/>
          </a:xfrm>
          <a:prstGeom prst="rect">
            <a:avLst/>
          </a:prstGeom>
        </p:spPr>
      </p:pic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r:embed="rId6"/>
              </a:ext>
            </a:extLst>
          </a:blip>
          <a:stretch>
            <a:fillRect/>
          </a:stretch>
        </p:blipFill>
        <p:spPr>
          <a:xfrm>
            <a:off x="405384" y="4681755"/>
            <a:ext cx="11350752" cy="120348"/>
          </a:xfrm>
          <a:prstGeom prst="rect">
            <a:avLst/>
          </a:prstGeom>
        </p:spPr>
      </p:pic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3:svgBlip r:embed="rId8"/>
              </a:ext>
            </a:extLst>
          </a:blip>
          <a:stretch>
            <a:fillRect/>
          </a:stretch>
        </p:blipFill>
        <p:spPr>
          <a:xfrm>
            <a:off x="405384" y="5134968"/>
            <a:ext cx="1076801" cy="4813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2026-06-08T08:22:40Z</dcterms:created>
  <dcterms:modified xsi:type="dcterms:W3CDTF">2026-06-08T08:22:40Z</dcterms:modified>
</cp:coreProperties>
</file>